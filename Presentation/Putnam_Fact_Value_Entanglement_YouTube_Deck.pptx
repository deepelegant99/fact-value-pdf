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A3A5"/>
          </a:solidFill>
          <a:ln w="12700">
            <a:solidFill>
              <a:srgbClr val="10A3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 FACTS REALLY BE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SEPARATED FROM VALUES?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49808" y="23774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9D8D8"/>
                </a:solidFill>
              </a:rPr>
              <a:t>A visual introduction to Hilary Putnam’s fact–value entanglement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06640" y="1051560"/>
            <a:ext cx="3474720" cy="786384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FACTS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36092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5E2E2"/>
                </a:solidFill>
              </a:rPr>
              <a:t>“The temperature is 90°F”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0" y="2487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06640" y="3063240"/>
            <a:ext cx="3474720" cy="786384"/>
          </a:xfrm>
          <a:prstGeom prst="rect">
            <a:avLst/>
          </a:prstGeom>
          <a:solidFill>
            <a:srgbClr val="6DAA45"/>
          </a:solidFill>
          <a:ln>
            <a:solidFill>
              <a:srgbClr val="6DAA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VALUES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360920" y="3977640"/>
            <a:ext cx="3657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5E2E2"/>
                </a:solidFill>
              </a:rPr>
              <a:t>“Cruelty is bad”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49377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ordinary picture looks clean. Too clean.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064240" y="63550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A0A1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traditional dichotomy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The picture we are about to test.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4937760" cy="2971800"/>
          </a:xfrm>
          <a:prstGeom prst="roundRect">
            <a:avLst>
              <a:gd name="adj" fmla="val 2462"/>
            </a:avLst>
          </a:prstGeom>
          <a:solidFill>
            <a:srgbClr val="EAF3F7"/>
          </a:solidFill>
          <a:ln w="13970">
            <a:solidFill>
              <a:srgbClr val="D8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965960"/>
            <a:ext cx="73152" cy="2971800"/>
          </a:xfrm>
          <a:prstGeom prst="rect">
            <a:avLst/>
          </a:prstGeom>
          <a:solidFill>
            <a:srgbClr val="4EA7C4"/>
          </a:solidFill>
          <a:ln w="12700">
            <a:solidFill>
              <a:srgbClr val="4EA7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167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EA7C4"/>
                </a:solidFill>
              </a:rPr>
              <a:t>F = FACTS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2624328"/>
            <a:ext cx="443484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observation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measurement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empirical claims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theory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400800" y="1965960"/>
            <a:ext cx="4937760" cy="2971800"/>
          </a:xfrm>
          <a:prstGeom prst="roundRect">
            <a:avLst>
              <a:gd name="adj" fmla="val 2462"/>
            </a:avLst>
          </a:prstGeom>
          <a:solidFill>
            <a:srgbClr val="FBF0E7"/>
          </a:solidFill>
          <a:ln w="13970">
            <a:solidFill>
              <a:srgbClr val="D8E2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965960"/>
            <a:ext cx="73152" cy="2971800"/>
          </a:xfrm>
          <a:prstGeom prst="rect">
            <a:avLst/>
          </a:prstGeom>
          <a:solidFill>
            <a:srgbClr val="E58A3B"/>
          </a:solidFill>
          <a:ln w="12700">
            <a:solidFill>
              <a:srgbClr val="E58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2167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58A3B"/>
                </a:solidFill>
              </a:rPr>
              <a:t>V = VALUES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56832" y="2624328"/>
            <a:ext cx="443484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good / bad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right / wrong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rational / irrational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ought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663440" y="5193792"/>
            <a:ext cx="2880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2326"/>
                </a:solidFill>
              </a:rPr>
              <a:t>F ∩ V = 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The alleged boundary: description on one side, evaluation on the other.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crack: mutual influence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Even before Putnam, the clean wall starts leaking.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2286000"/>
            <a:ext cx="2880360" cy="1143000"/>
          </a:xfrm>
          <a:prstGeom prst="rect">
            <a:avLst/>
          </a:prstGeom>
          <a:solidFill>
            <a:srgbClr val="EFF6E9"/>
          </a:solidFill>
          <a:ln w="20320">
            <a:solidFill>
              <a:srgbClr val="6DAA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DAA45"/>
                </a:solidFill>
              </a:rPr>
              <a:t>V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6DAA45"/>
                </a:solidFill>
              </a:rPr>
              <a:t>values / priorities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0" y="2286000"/>
            <a:ext cx="2880360" cy="1143000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A7C4"/>
                </a:solidFill>
              </a:rPr>
              <a:t>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4EA7C4"/>
                </a:solidFill>
              </a:rPr>
              <a:t>facts / institutions / theories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0" y="2633472"/>
            <a:ext cx="3977640" cy="0"/>
          </a:xfrm>
          <a:prstGeom prst="line">
            <a:avLst/>
          </a:prstGeom>
          <a:noFill/>
          <a:ln w="38100">
            <a:solidFill>
              <a:srgbClr val="6DAA4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92440" y="3127248"/>
            <a:ext cx="-3977640" cy="0"/>
          </a:xfrm>
          <a:prstGeom prst="line">
            <a:avLst/>
          </a:prstGeom>
          <a:noFill/>
          <a:ln w="38100">
            <a:solidFill>
              <a:srgbClr val="4EA7C4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14400" y="4069080"/>
            <a:ext cx="4663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04245"/>
                </a:solidFill>
              </a:rPr>
              <a:t>Values select what gets built, funded, measured, defended.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4069080"/>
            <a:ext cx="4663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304245"/>
                </a:solidFill>
              </a:rPr>
              <a:t>Facts and consequences reshape what people value next.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892040"/>
            <a:ext cx="1234440" cy="402336"/>
          </a:xfrm>
          <a:prstGeom prst="rect">
            <a:avLst/>
          </a:prstGeom>
          <a:solidFill>
            <a:srgbClr val="6DAA45"/>
          </a:solidFill>
          <a:ln>
            <a:solidFill>
              <a:srgbClr val="6DAA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law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14600" y="4892040"/>
            <a:ext cx="1234440" cy="402336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research agenda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31920" y="4892040"/>
            <a:ext cx="1234440" cy="402336"/>
          </a:xfrm>
          <a:prstGeom prst="rect">
            <a:avLst/>
          </a:prstGeom>
          <a:solidFill>
            <a:srgbClr val="E58A3B"/>
          </a:solidFill>
          <a:ln>
            <a:solidFill>
              <a:srgbClr val="E58A3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design choice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V → F and F → V: interaction is real. But interaction alone is not yet Putnam.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Interaction is not yet entanglement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A useful objection keeps us honest.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240280"/>
            <a:ext cx="2926080" cy="914400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A7C4"/>
                </a:solidFill>
              </a:rPr>
              <a:t>Thermostat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38160" y="2240280"/>
            <a:ext cx="2926080" cy="914400"/>
          </a:xfrm>
          <a:prstGeom prst="rect">
            <a:avLst/>
          </a:prstGeom>
          <a:solidFill>
            <a:srgbClr val="FBF0E7"/>
          </a:solidFill>
          <a:ln w="20320">
            <a:solidFill>
              <a:srgbClr val="E58A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8A3B"/>
                </a:solidFill>
              </a:rPr>
              <a:t>Furnace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51960" y="2542032"/>
            <a:ext cx="3703320" cy="0"/>
          </a:xfrm>
          <a:prstGeom prst="line">
            <a:avLst/>
          </a:prstGeom>
          <a:noFill/>
          <a:ln w="31750">
            <a:solidFill>
              <a:srgbClr val="4EA7C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955280" y="2999232"/>
            <a:ext cx="-3703320" cy="0"/>
          </a:xfrm>
          <a:prstGeom prst="line">
            <a:avLst/>
          </a:prstGeom>
          <a:noFill/>
          <a:ln w="31750">
            <a:solidFill>
              <a:srgbClr val="E58A3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14300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26"/>
                </a:solidFill>
              </a:rPr>
              <a:t>They interact.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26680" y="3749040"/>
            <a:ext cx="3749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2326"/>
                </a:solidFill>
              </a:rPr>
              <a:t>They are not the same thing.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C65C4B"/>
          </a:solidFill>
          <a:ln>
            <a:solidFill>
              <a:srgbClr val="C65C4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V → F and F → V  ≠  conceptual inseparability</a:t>
            </a:r>
            <a:endParaRPr lang="en-US" sz="1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 the thick concept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Putnam’s pressure point is not causal. It is conceptual.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1901952"/>
            <a:ext cx="3154680" cy="2743200"/>
          </a:xfrm>
          <a:prstGeom prst="ellipse">
            <a:avLst/>
          </a:prstGeom>
          <a:solidFill>
            <a:srgbClr val="EAF3F7">
              <a:alpha val="95000"/>
            </a:srgbClr>
          </a:solidFill>
          <a:ln w="25400">
            <a:solidFill>
              <a:srgbClr val="4EA7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7880" y="1901952"/>
            <a:ext cx="3154680" cy="2743200"/>
          </a:xfrm>
          <a:prstGeom prst="ellipse">
            <a:avLst/>
          </a:prstGeom>
          <a:solidFill>
            <a:srgbClr val="FBF0E7">
              <a:alpha val="95000"/>
            </a:srgbClr>
          </a:solidFill>
          <a:ln w="25400">
            <a:solidFill>
              <a:srgbClr val="E58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A7C4"/>
                </a:solidFill>
              </a:rPr>
              <a:t>description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8A3B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2788920"/>
            <a:ext cx="24231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2326"/>
                </a:solidFill>
              </a:rPr>
              <a:t>CRUEL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011680" y="4892040"/>
            <a:ext cx="8138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04245"/>
                </a:solidFill>
              </a:rPr>
              <a:t>“The guard behaved cruelly toward the prisoner.”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A thick concept seems to say what happened and how to assess it.</a:t>
            </a:r>
            <a:endParaRPr lang="en-US" sz="1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tempting decomposition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The clean split tries to survive.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2011680" cy="822960"/>
          </a:xfrm>
          <a:prstGeom prst="rect">
            <a:avLst/>
          </a:prstGeom>
          <a:solidFill>
            <a:srgbClr val="FFFFFF"/>
          </a:solidFill>
          <a:ln w="20320">
            <a:solidFill>
              <a:srgbClr val="14232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326"/>
                </a:solidFill>
              </a:rPr>
              <a:t>CRUEL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971800" y="2743200"/>
            <a:ext cx="1097280" cy="-59436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2743200"/>
            <a:ext cx="1097280" cy="150876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06240" y="1645920"/>
            <a:ext cx="6903720" cy="1508760"/>
          </a:xfrm>
          <a:prstGeom prst="roundRect">
            <a:avLst>
              <a:gd name="adj" fmla="val 4848"/>
            </a:avLst>
          </a:prstGeom>
          <a:solidFill>
            <a:srgbClr val="EAF3F7"/>
          </a:solidFill>
          <a:ln w="13970">
            <a:solidFill>
              <a:srgbClr val="D8E2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645920"/>
            <a:ext cx="73152" cy="1508760"/>
          </a:xfrm>
          <a:prstGeom prst="rect">
            <a:avLst/>
          </a:prstGeom>
          <a:solidFill>
            <a:srgbClr val="4EA7C4"/>
          </a:solidFill>
          <a:ln w="12700">
            <a:solidFill>
              <a:srgbClr val="4EA7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847088"/>
            <a:ext cx="644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EA7C4"/>
                </a:solidFill>
              </a:rPr>
              <a:t>D = NEUTRAL DESCRIPTION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62272" y="2304288"/>
            <a:ext cx="64008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hit the prisoner · humiliated him · withheld food · caused pain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206240" y="3794760"/>
            <a:ext cx="6903720" cy="1508760"/>
          </a:xfrm>
          <a:prstGeom prst="roundRect">
            <a:avLst>
              <a:gd name="adj" fmla="val 4848"/>
            </a:avLst>
          </a:prstGeom>
          <a:solidFill>
            <a:srgbClr val="FBF0E7"/>
          </a:solidFill>
          <a:ln w="13970">
            <a:solidFill>
              <a:srgbClr val="D8E2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3794760"/>
            <a:ext cx="73152" cy="1508760"/>
          </a:xfrm>
          <a:prstGeom prst="rect">
            <a:avLst/>
          </a:prstGeom>
          <a:solidFill>
            <a:srgbClr val="E58A3B"/>
          </a:solidFill>
          <a:ln w="12700">
            <a:solidFill>
              <a:srgbClr val="E58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3995928"/>
            <a:ext cx="644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58A3B"/>
                </a:solidFill>
              </a:rPr>
              <a:t>E = EVALUATION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62272" y="4453128"/>
            <a:ext cx="64008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bad · wrong · condemnable · not to be done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C65C4B"/>
          </a:solidFill>
          <a:ln>
            <a:solidFill>
              <a:srgbClr val="C65C4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Cruel = D + E ?</a:t>
            </a:r>
            <a:endParaRPr lang="en-US" sz="1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Putnam: not so fast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The value is not merely stapled on afterward.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2880360" cy="2926080"/>
          </a:xfrm>
          <a:prstGeom prst="roundRect">
            <a:avLst>
              <a:gd name="adj" fmla="val 2540"/>
            </a:avLst>
          </a:prstGeom>
          <a:solidFill>
            <a:srgbClr val="EAF3F7"/>
          </a:solidFill>
          <a:ln w="13970">
            <a:solidFill>
              <a:srgbClr val="D8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74520"/>
            <a:ext cx="73152" cy="2926080"/>
          </a:xfrm>
          <a:prstGeom prst="rect">
            <a:avLst/>
          </a:prstGeom>
          <a:solidFill>
            <a:srgbClr val="4EA7C4"/>
          </a:solidFill>
          <a:ln w="12700">
            <a:solidFill>
              <a:srgbClr val="4EA7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0756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EA7C4"/>
                </a:solidFill>
              </a:rPr>
              <a:t>RAW BEHAVIORS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2532888"/>
            <a:ext cx="237744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“caused pain”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“taught discipline”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“humiliated for amusement”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304245"/>
                </a:solidFill>
              </a:rPr>
              <a:t>“followed policy”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72000" y="2487168"/>
            <a:ext cx="2926080" cy="1097280"/>
          </a:xfrm>
          <a:prstGeom prst="rect">
            <a:avLst/>
          </a:prstGeom>
          <a:solidFill>
            <a:srgbClr val="E8F4F3"/>
          </a:solidFill>
          <a:ln w="20320"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7C7E"/>
                </a:solidFill>
              </a:rPr>
              <a:t>Which details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87C7E"/>
                </a:solidFill>
              </a:rPr>
              <a:t>matter?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549640" y="2487168"/>
            <a:ext cx="2743200" cy="1097280"/>
          </a:xfrm>
          <a:prstGeom prst="rect">
            <a:avLst/>
          </a:prstGeom>
          <a:solidFill>
            <a:srgbClr val="FBF0E7"/>
          </a:solidFill>
          <a:ln w="20320">
            <a:solidFill>
              <a:srgbClr val="E58A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58A3B"/>
                </a:solidFill>
              </a:rPr>
              <a:t>Cruelty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58A3B"/>
                </a:solidFill>
              </a:rPr>
              <a:t>judgment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657600" y="3017520"/>
            <a:ext cx="777240" cy="0"/>
          </a:xfrm>
          <a:prstGeom prst="line">
            <a:avLst/>
          </a:prstGeom>
          <a:noFill/>
          <a:ln w="30480">
            <a:solidFill>
              <a:srgbClr val="4EA7C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3017520"/>
            <a:ext cx="868680" cy="0"/>
          </a:xfrm>
          <a:prstGeom prst="line">
            <a:avLst/>
          </a:prstGeom>
          <a:noFill/>
          <a:ln w="30480">
            <a:solidFill>
              <a:srgbClr val="087C7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921240" y="3749040"/>
            <a:ext cx="-3017520" cy="868680"/>
          </a:xfrm>
          <a:prstGeom prst="line">
            <a:avLst/>
          </a:prstGeom>
          <a:noFill/>
          <a:ln w="30480">
            <a:solidFill>
              <a:srgbClr val="E58A3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0" y="4160520"/>
            <a:ext cx="3017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4245"/>
                </a:solidFill>
              </a:rPr>
              <a:t>evaluative understanding guides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04245"/>
                </a:solidFill>
              </a:rPr>
              <a:t>selection and interpretation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To recognize the relevant facts as cruelty, you already need the evaluative concept.</a:t>
            </a:r>
            <a:endParaRPr lang="en-US" sz="1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visual model of judgment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This is our map, not Putnam’s math.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874520" y="5257800"/>
            <a:ext cx="8138160" cy="0"/>
          </a:xfrm>
          <a:prstGeom prst="line">
            <a:avLst/>
          </a:prstGeom>
          <a:noFill/>
          <a:ln w="1651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74520" y="5257800"/>
            <a:ext cx="0" cy="-3154680"/>
          </a:xfrm>
          <a:prstGeom prst="line">
            <a:avLst/>
          </a:prstGeom>
          <a:noFill/>
          <a:ln w="1651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875520" y="5367528"/>
            <a:ext cx="320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7C"/>
                </a:solidFill>
              </a:rPr>
              <a:t>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938528"/>
            <a:ext cx="274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7C"/>
                </a:solidFill>
              </a:rPr>
              <a:t>v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61888" y="3081528"/>
            <a:ext cx="329184" cy="329184"/>
          </a:xfrm>
          <a:prstGeom prst="ellipse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5303520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7C"/>
                </a:solidFill>
              </a:rPr>
              <a:t>f = descriptive content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7C"/>
                </a:solidFill>
              </a:rPr>
              <a:t>v = evaluative content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26680" y="2331720"/>
            <a:ext cx="2651760" cy="777240"/>
          </a:xfrm>
          <a:prstGeom prst="rect">
            <a:avLst/>
          </a:prstGeom>
          <a:solidFill>
            <a:srgbClr val="E8F4F3"/>
          </a:solidFill>
          <a:ln w="20320"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7C7E"/>
                </a:solidFill>
              </a:rPr>
              <a:t>J = (f, v)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A judgment can have both descriptive and evaluative coordinates.</a:t>
            </a:r>
            <a:endParaRPr lang="en-US" sz="1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 judgments lean descriptive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The model allows degrees.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874520" y="5257800"/>
            <a:ext cx="8138160" cy="0"/>
          </a:xfrm>
          <a:prstGeom prst="line">
            <a:avLst/>
          </a:prstGeom>
          <a:noFill/>
          <a:ln w="1651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74520" y="5257800"/>
            <a:ext cx="0" cy="-3154680"/>
          </a:xfrm>
          <a:prstGeom prst="line">
            <a:avLst/>
          </a:prstGeom>
          <a:noFill/>
          <a:ln w="1651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875520" y="5367528"/>
            <a:ext cx="320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7C"/>
                </a:solidFill>
              </a:rPr>
              <a:t>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938528"/>
            <a:ext cx="274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7C"/>
                </a:solidFill>
              </a:rPr>
              <a:t>v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796528" y="4572000"/>
            <a:ext cx="329184" cy="329184"/>
          </a:xfrm>
          <a:prstGeom prst="ellipse">
            <a:avLst/>
          </a:prstGeom>
          <a:solidFill>
            <a:srgbClr val="4EA7C4"/>
          </a:solidFill>
          <a:ln w="12700">
            <a:solidFill>
              <a:srgbClr val="4EA7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04245"/>
                </a:solidFill>
              </a:rPr>
              <a:t>“thermometer reads 22°C”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3401568"/>
            <a:ext cx="3474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7C"/>
                </a:solidFill>
              </a:rPr>
              <a:t>“water boils at sea level”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77640" y="2331720"/>
            <a:ext cx="2926080" cy="749808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A7C4"/>
                </a:solidFill>
              </a:rPr>
              <a:t>J₁ ≈ (0.95, 0.05)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4EA7C4"/>
          </a:solidFill>
          <a:ln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Close to the descriptive axis does not mean literally value-free.</a:t>
            </a:r>
            <a:endParaRPr lang="en-US" sz="1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 judgments lean evaluative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The other extreme also exists.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874520" y="5257800"/>
            <a:ext cx="8138160" cy="0"/>
          </a:xfrm>
          <a:prstGeom prst="line">
            <a:avLst/>
          </a:prstGeom>
          <a:noFill/>
          <a:ln w="1651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74520" y="5257800"/>
            <a:ext cx="0" cy="-3154680"/>
          </a:xfrm>
          <a:prstGeom prst="line">
            <a:avLst/>
          </a:prstGeom>
          <a:noFill/>
          <a:ln w="1651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875520" y="5367528"/>
            <a:ext cx="320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7C"/>
                </a:solidFill>
              </a:rPr>
              <a:t>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938528"/>
            <a:ext cx="274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7C"/>
                </a:solidFill>
              </a:rPr>
              <a:t>v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32888" y="2350008"/>
            <a:ext cx="329184" cy="329184"/>
          </a:xfrm>
          <a:prstGeom prst="ellipse">
            <a:avLst/>
          </a:prstGeom>
          <a:solidFill>
            <a:srgbClr val="E58A3B"/>
          </a:solidFill>
          <a:ln w="12700">
            <a:solidFill>
              <a:srgbClr val="E58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2212848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04245"/>
                </a:solidFill>
              </a:rPr>
              <a:t>“admirable”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63240" y="2743200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A7C"/>
                </a:solidFill>
              </a:rPr>
              <a:t>“disgusting”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331720"/>
            <a:ext cx="2926080" cy="749808"/>
          </a:xfrm>
          <a:prstGeom prst="rect">
            <a:avLst/>
          </a:prstGeom>
          <a:solidFill>
            <a:srgbClr val="FBF0E7"/>
          </a:solidFill>
          <a:ln w="20320">
            <a:solidFill>
              <a:srgbClr val="E58A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8A3B"/>
                </a:solidFill>
              </a:rPr>
              <a:t>J₂ ≈ (0.10, 0.90)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E58A3B"/>
          </a:solidFill>
          <a:ln>
            <a:solidFill>
              <a:srgbClr val="E58A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Some claims are overwhelmingly evaluative without being empty of description.</a:t>
            </a:r>
            <a:endParaRPr lang="en-US" sz="1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thick region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Much of human life sits in the middle.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874520" y="5257800"/>
            <a:ext cx="8138160" cy="0"/>
          </a:xfrm>
          <a:prstGeom prst="line">
            <a:avLst/>
          </a:prstGeom>
          <a:noFill/>
          <a:ln w="1651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74520" y="5257800"/>
            <a:ext cx="0" cy="-3154680"/>
          </a:xfrm>
          <a:prstGeom prst="line">
            <a:avLst/>
          </a:prstGeom>
          <a:noFill/>
          <a:ln w="1651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875520" y="5367528"/>
            <a:ext cx="320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7C"/>
                </a:solidFill>
              </a:rPr>
              <a:t>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938528"/>
            <a:ext cx="274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7C"/>
                </a:solidFill>
              </a:rPr>
              <a:t>v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0" y="2331720"/>
            <a:ext cx="3886200" cy="2103120"/>
          </a:xfrm>
          <a:prstGeom prst="ellipse">
            <a:avLst/>
          </a:prstGeom>
          <a:solidFill>
            <a:srgbClr val="E8F4F3">
              <a:alpha val="82000"/>
            </a:srgbClr>
          </a:solidFill>
          <a:ln w="19050">
            <a:solidFill>
              <a:srgbClr val="087C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0016" y="2715768"/>
            <a:ext cx="201168" cy="201168"/>
          </a:xfrm>
          <a:prstGeom prst="ellipse">
            <a:avLst/>
          </a:prstGeom>
          <a:solidFill>
            <a:srgbClr val="C65C4B"/>
          </a:solidFill>
          <a:ln w="12700">
            <a:solidFill>
              <a:srgbClr val="C65C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660904"/>
            <a:ext cx="1371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65C4B"/>
                </a:solidFill>
              </a:rPr>
              <a:t>cruel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97296" y="3282696"/>
            <a:ext cx="201168" cy="201168"/>
          </a:xfrm>
          <a:prstGeom prst="ellipse">
            <a:avLst/>
          </a:prstGeom>
          <a:solidFill>
            <a:srgbClr val="6DAA45"/>
          </a:solidFill>
          <a:ln w="12700">
            <a:solidFill>
              <a:srgbClr val="6DAA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227832"/>
            <a:ext cx="1371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DAA45"/>
                </a:solidFill>
              </a:rPr>
              <a:t>brave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37376" y="2551176"/>
            <a:ext cx="201168" cy="201168"/>
          </a:xfrm>
          <a:prstGeom prst="ellipse">
            <a:avLst/>
          </a:prstGeom>
          <a:solidFill>
            <a:srgbClr val="E58A3B"/>
          </a:solidFill>
          <a:ln w="12700">
            <a:solidFill>
              <a:srgbClr val="E58A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496312"/>
            <a:ext cx="1371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58A3B"/>
                </a:solidFill>
              </a:rPr>
              <a:t>unjust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08576" y="3648456"/>
            <a:ext cx="201168" cy="201168"/>
          </a:xfrm>
          <a:prstGeom prst="ellipse">
            <a:avLst/>
          </a:prstGeom>
          <a:solidFill>
            <a:srgbClr val="4EA7C4"/>
          </a:solidFill>
          <a:ln w="12700">
            <a:solidFill>
              <a:srgbClr val="4EA7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593592"/>
            <a:ext cx="1371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A7C4"/>
                </a:solidFill>
              </a:rPr>
              <a:t>dishonest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0216" y="3739896"/>
            <a:ext cx="201168" cy="201168"/>
          </a:xfrm>
          <a:prstGeom prst="ellipse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685032"/>
            <a:ext cx="1371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7C7E"/>
                </a:solidFill>
              </a:rPr>
              <a:t>reasonable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Thick concepts occupy the zone where description and evaluation travel together.</a:t>
            </a:r>
            <a:endParaRPr lang="en-US" sz="1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entanglement is only the beginning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Now we let the picture move through time.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2103120" cy="1097280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EA7C4"/>
                </a:solidFill>
              </a:rPr>
              <a:t>J₀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7452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7C"/>
                </a:solidFill>
              </a:rPr>
              <a:t>t₀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29000" y="2743200"/>
            <a:ext cx="1143000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709160" y="2194560"/>
            <a:ext cx="2103120" cy="1097280"/>
          </a:xfrm>
          <a:prstGeom prst="rect">
            <a:avLst/>
          </a:prstGeom>
          <a:solidFill>
            <a:srgbClr val="E8F4F3"/>
          </a:solidFill>
          <a:ln w="20320"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7C7E"/>
                </a:solidFill>
              </a:rPr>
              <a:t>J₁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9496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7C"/>
                </a:solidFill>
              </a:rPr>
              <a:t>t₁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49440" y="2743200"/>
            <a:ext cx="1143000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0" y="2194560"/>
            <a:ext cx="2103120" cy="1097280"/>
          </a:xfrm>
          <a:prstGeom prst="rect">
            <a:avLst/>
          </a:prstGeom>
          <a:solidFill>
            <a:srgbClr val="FBF0E7"/>
          </a:solidFill>
          <a:ln w="20320">
            <a:solidFill>
              <a:srgbClr val="E58A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8A3B"/>
                </a:solidFill>
              </a:rPr>
              <a:t>J₂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1540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7C"/>
                </a:solidFill>
              </a:rPr>
              <a:t>t₂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51960" y="4663440"/>
            <a:ext cx="3657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326"/>
                </a:solidFill>
              </a:rPr>
              <a:t>Jₜ = (fₜ, vₜ)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The judgment changes because both our factual situation and our evaluative orientation can change.</a:t>
            </a:r>
            <a:endParaRPr lang="en-US" sz="1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Values guide inquiry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Inquiry starts with standards, interests, and priorities.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97280" y="2240280"/>
            <a:ext cx="2880360" cy="1188720"/>
          </a:xfrm>
          <a:prstGeom prst="rect">
            <a:avLst/>
          </a:prstGeom>
          <a:solidFill>
            <a:srgbClr val="EFF6E9"/>
          </a:solidFill>
          <a:ln w="20320">
            <a:solidFill>
              <a:srgbClr val="6DAA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DAA45"/>
                </a:solidFill>
              </a:rPr>
              <a:t>V₀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6DAA45"/>
                </a:solidFill>
              </a:rPr>
              <a:t>starting values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83880" y="2240280"/>
            <a:ext cx="2880360" cy="1188720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EA7C4"/>
                </a:solidFill>
              </a:rPr>
              <a:t>T₁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4EA7C4"/>
                </a:solidFill>
              </a:rPr>
              <a:t>theory / practice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114800" y="2834640"/>
            <a:ext cx="3886200" cy="0"/>
          </a:xfrm>
          <a:prstGeom prst="line">
            <a:avLst/>
          </a:prstGeom>
          <a:noFill/>
          <a:ln w="38100">
            <a:solidFill>
              <a:srgbClr val="087C7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828800" y="4069080"/>
            <a:ext cx="47548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04245"/>
                </a:solidFill>
              </a:rPr>
              <a:t>What counts as important?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4498848"/>
            <a:ext cx="47548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04245"/>
                </a:solidFill>
              </a:rPr>
              <a:t>What counts as elegant?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28800" y="4928616"/>
            <a:ext cx="47548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04245"/>
                </a:solidFill>
              </a:rPr>
              <a:t>What counts as explanation?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4069080"/>
            <a:ext cx="1417320" cy="402336"/>
          </a:xfrm>
          <a:prstGeom prst="rect">
            <a:avLst/>
          </a:prstGeom>
          <a:solidFill>
            <a:srgbClr val="6DAA45"/>
          </a:solidFill>
          <a:ln>
            <a:solidFill>
              <a:srgbClr val="6DAA4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simplicity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23960" y="4069080"/>
            <a:ext cx="1417320" cy="402336"/>
          </a:xfrm>
          <a:prstGeom prst="rect">
            <a:avLst/>
          </a:prstGeom>
          <a:solidFill>
            <a:srgbClr val="4EA7C4"/>
          </a:solidFill>
          <a:ln>
            <a:solidFill>
              <a:srgbClr val="4EA7C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evidence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23760" y="4636008"/>
            <a:ext cx="1417320" cy="402336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scope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823960" y="4636008"/>
            <a:ext cx="1417320" cy="402336"/>
          </a:xfrm>
          <a:prstGeom prst="rect">
            <a:avLst/>
          </a:prstGeom>
          <a:solidFill>
            <a:srgbClr val="E58A3B"/>
          </a:solidFill>
          <a:ln>
            <a:solidFill>
              <a:srgbClr val="E58A3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fairness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Values do not dictate the answer. They help determine what counts as a question and a good answer.</a:t>
            </a:r>
            <a:endParaRPr lang="en-US" sz="16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Inquiry reshapes value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The return loop is where the machine gets interesting.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600200" cy="914400"/>
          </a:xfrm>
          <a:prstGeom prst="rect">
            <a:avLst/>
          </a:prstGeom>
          <a:solidFill>
            <a:srgbClr val="EFF6E9"/>
          </a:solidFill>
          <a:ln w="20320">
            <a:solidFill>
              <a:srgbClr val="6DAA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AA45"/>
                </a:solidFill>
              </a:rPr>
              <a:t>V₀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41448" y="2788920"/>
            <a:ext cx="457200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971800" y="2331720"/>
            <a:ext cx="1600200" cy="914400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A7C4"/>
                </a:solidFill>
              </a:rPr>
              <a:t>T₁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36008" y="2788920"/>
            <a:ext cx="457200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66360" y="2331720"/>
            <a:ext cx="1600200" cy="914400"/>
          </a:xfrm>
          <a:prstGeom prst="rect">
            <a:avLst/>
          </a:prstGeom>
          <a:solidFill>
            <a:srgbClr val="EFF6E9"/>
          </a:solidFill>
          <a:ln w="20320">
            <a:solidFill>
              <a:srgbClr val="6DAA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AA45"/>
                </a:solidFill>
              </a:rPr>
              <a:t>V₁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30568" y="2788920"/>
            <a:ext cx="457200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360920" y="2331720"/>
            <a:ext cx="1600200" cy="914400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A7C4"/>
                </a:solidFill>
              </a:rPr>
              <a:t>T₂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025128" y="2788920"/>
            <a:ext cx="457200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555480" y="2331720"/>
            <a:ext cx="1600200" cy="914400"/>
          </a:xfrm>
          <a:prstGeom prst="rect">
            <a:avLst/>
          </a:prstGeom>
          <a:solidFill>
            <a:srgbClr val="FBF0E7"/>
          </a:solidFill>
          <a:ln w="20320">
            <a:solidFill>
              <a:srgbClr val="E58A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8A3B"/>
                </a:solidFill>
              </a:rPr>
              <a:t>V₂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1508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7C"/>
                </a:solidFill>
              </a:rPr>
              <a:t>standards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3794760"/>
            <a:ext cx="1508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7C"/>
                </a:solidFill>
              </a:rPr>
              <a:t>theory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7C"/>
                </a:solidFill>
              </a:rPr>
              <a:t>revised standards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7C"/>
                </a:solidFill>
              </a:rPr>
              <a:t>new theory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7C"/>
                </a:solidFill>
              </a:rPr>
              <a:t>new values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88920" y="4572000"/>
            <a:ext cx="65836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2326"/>
                </a:solidFill>
              </a:rPr>
              <a:t>V₀ → T₁ → V₁ → T₂ → V₂ → …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Inquiry is recursive: standards shape inquiry; successful inquiry can reshape standards.</a:t>
            </a:r>
            <a:endParaRPr lang="en-US" sz="1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Artifact loop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Values become things; things train future values.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240280" cy="1143000"/>
          </a:xfrm>
          <a:prstGeom prst="rect">
            <a:avLst/>
          </a:prstGeom>
          <a:solidFill>
            <a:srgbClr val="EFF6E9"/>
          </a:solidFill>
          <a:ln w="20320">
            <a:solidFill>
              <a:srgbClr val="6DAA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AA45"/>
                </a:solidFill>
              </a:rPr>
              <a:t>Value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DAA45"/>
                </a:solidFill>
              </a:rPr>
              <a:t>standards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26080" y="2816352"/>
            <a:ext cx="228600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246120" y="2240280"/>
            <a:ext cx="2240280" cy="1143000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A7C4"/>
                </a:solidFill>
              </a:rPr>
              <a:t>Design / UI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4EA7C4"/>
                </a:solidFill>
              </a:rPr>
              <a:t>Artifact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577840" y="2816352"/>
            <a:ext cx="228600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897880" y="2240280"/>
            <a:ext cx="2240280" cy="1143000"/>
          </a:xfrm>
          <a:prstGeom prst="rect">
            <a:avLst/>
          </a:prstGeom>
          <a:solidFill>
            <a:srgbClr val="FBF0E7"/>
          </a:solidFill>
          <a:ln w="20320">
            <a:solidFill>
              <a:srgbClr val="E58A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8A3B"/>
                </a:solidFill>
              </a:rPr>
              <a:t>Use /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58A3B"/>
                </a:solidFill>
              </a:rPr>
              <a:t>Experience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0" y="2816352"/>
            <a:ext cx="228600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549640" y="2240280"/>
            <a:ext cx="2240280" cy="1143000"/>
          </a:xfrm>
          <a:prstGeom prst="rect">
            <a:avLst/>
          </a:prstGeom>
          <a:solidFill>
            <a:srgbClr val="E8F4F3"/>
          </a:solidFill>
          <a:ln w="20320"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C7E"/>
                </a:solidFill>
              </a:rPr>
              <a:t>New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87C7E"/>
                </a:solidFill>
              </a:rPr>
              <a:t>standards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46920" y="3657600"/>
            <a:ext cx="-8138160" cy="105156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440680" y="4160520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7C7E"/>
                </a:solidFill>
              </a:rPr>
              <a:t>feedback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5074920"/>
            <a:ext cx="3931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2326"/>
                </a:solidFill>
              </a:rPr>
              <a:t>Vₜ → Aₜ → Vₜ₊₁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Aesthetic and practical values shape artifacts; living with artifacts reshapes taste and expectation.</a:t>
            </a:r>
            <a:endParaRPr lang="en-US" sz="16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World, belief, value, action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The agent-level feedback loop.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1783080" cy="1051560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A7C4"/>
                </a:solidFill>
              </a:rPr>
              <a:t>Wₜ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4EA7C4"/>
                </a:solidFill>
              </a:rPr>
              <a:t>world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41448" y="2862072"/>
            <a:ext cx="301752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80360" y="2331720"/>
            <a:ext cx="1783080" cy="1051560"/>
          </a:xfrm>
          <a:prstGeom prst="rect">
            <a:avLst/>
          </a:prstGeom>
          <a:solidFill>
            <a:srgbClr val="E8F4F3"/>
          </a:solidFill>
          <a:ln w="20320"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7C7E"/>
                </a:solidFill>
              </a:rPr>
              <a:t>Bₜ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87C7E"/>
                </a:solidFill>
              </a:rPr>
              <a:t>belief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27448" y="2862072"/>
            <a:ext cx="301752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66360" y="2331720"/>
            <a:ext cx="1783080" cy="1051560"/>
          </a:xfrm>
          <a:prstGeom prst="rect">
            <a:avLst/>
          </a:prstGeom>
          <a:solidFill>
            <a:srgbClr val="EFF6E9"/>
          </a:solidFill>
          <a:ln w="20320">
            <a:solidFill>
              <a:srgbClr val="6DAA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AA45"/>
                </a:solidFill>
              </a:rPr>
              <a:t>Vₜ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DAA45"/>
                </a:solidFill>
              </a:rPr>
              <a:t>value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013448" y="2862072"/>
            <a:ext cx="301752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52360" y="2331720"/>
            <a:ext cx="1783080" cy="1051560"/>
          </a:xfrm>
          <a:prstGeom prst="rect">
            <a:avLst/>
          </a:prstGeom>
          <a:solidFill>
            <a:srgbClr val="FBF0E7"/>
          </a:solidFill>
          <a:ln w="20320">
            <a:solidFill>
              <a:srgbClr val="E58A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8A3B"/>
                </a:solidFill>
              </a:rPr>
              <a:t>Aₜ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58A3B"/>
                </a:solidFill>
              </a:rPr>
              <a:t>action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99448" y="2862072"/>
            <a:ext cx="301752" cy="0"/>
          </a:xfrm>
          <a:prstGeom prst="line">
            <a:avLst/>
          </a:prstGeom>
          <a:noFill/>
          <a:ln w="2794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738360" y="2331720"/>
            <a:ext cx="1783080" cy="1051560"/>
          </a:xfrm>
          <a:prstGeom prst="rect">
            <a:avLst/>
          </a:prstGeom>
          <a:solidFill>
            <a:srgbClr val="F8ECE9"/>
          </a:solidFill>
          <a:ln w="20320">
            <a:solidFill>
              <a:srgbClr val="C65C4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65C4B"/>
                </a:solidFill>
              </a:rPr>
              <a:t>Wₜ₊₁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65C4B"/>
                </a:solidFill>
              </a:rPr>
              <a:t>new world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98480" y="3749040"/>
            <a:ext cx="-9281160" cy="1097280"/>
          </a:xfrm>
          <a:prstGeom prst="line">
            <a:avLst/>
          </a:prstGeom>
          <a:noFill/>
          <a:ln w="25400">
            <a:solidFill>
              <a:srgbClr val="087C7E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383280" y="4434840"/>
            <a:ext cx="54864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7C7E"/>
                </a:solidFill>
              </a:rPr>
              <a:t>new state → new evidence → new evaluation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087C7E"/>
          </a:solidFill>
          <a:ln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We do not merely observe state space. Evaluation helps determine which state we try to move into.</a:t>
            </a:r>
            <a:endParaRPr lang="en-US" sz="16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coupled dynamical system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Not identical. Not independent.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2057400"/>
            <a:ext cx="2834640" cy="1097280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A7C4"/>
                </a:solidFill>
              </a:rPr>
              <a:t>Fₜ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4EA7C4"/>
                </a:solidFill>
              </a:rPr>
              <a:t>factual state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2834640" cy="1097280"/>
          </a:xfrm>
          <a:prstGeom prst="rect">
            <a:avLst/>
          </a:prstGeom>
          <a:solidFill>
            <a:srgbClr val="EFF6E9"/>
          </a:solidFill>
          <a:ln w="20320">
            <a:solidFill>
              <a:srgbClr val="6DAA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AA45"/>
                </a:solidFill>
              </a:rPr>
              <a:t>Vₜ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6DAA45"/>
                </a:solidFill>
              </a:rPr>
              <a:t>value state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58200" y="2057400"/>
            <a:ext cx="2834640" cy="1097280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A7C4"/>
                </a:solidFill>
              </a:rPr>
              <a:t>Fₜ₊₁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58200" y="3886200"/>
            <a:ext cx="2834640" cy="1097280"/>
          </a:xfrm>
          <a:prstGeom prst="rect">
            <a:avLst/>
          </a:prstGeom>
          <a:solidFill>
            <a:srgbClr val="EFF6E9"/>
          </a:solidFill>
          <a:ln w="20320">
            <a:solidFill>
              <a:srgbClr val="6DAA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AA45"/>
                </a:solidFill>
              </a:rPr>
              <a:t>Vₜ₊₁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931920" y="2606040"/>
            <a:ext cx="4343400" cy="0"/>
          </a:xfrm>
          <a:prstGeom prst="line">
            <a:avLst/>
          </a:prstGeom>
          <a:noFill/>
          <a:ln w="31750">
            <a:solidFill>
              <a:srgbClr val="4EA7C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31920" y="4434840"/>
            <a:ext cx="4343400" cy="0"/>
          </a:xfrm>
          <a:prstGeom prst="line">
            <a:avLst/>
          </a:prstGeom>
          <a:noFill/>
          <a:ln w="31750">
            <a:solidFill>
              <a:srgbClr val="6DAA4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49040" y="2697480"/>
            <a:ext cx="4572000" cy="1463040"/>
          </a:xfrm>
          <a:prstGeom prst="line">
            <a:avLst/>
          </a:prstGeom>
          <a:noFill/>
          <a:ln w="25400">
            <a:solidFill>
              <a:srgbClr val="087C7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49040" y="4160520"/>
            <a:ext cx="4572000" cy="-1280160"/>
          </a:xfrm>
          <a:prstGeom prst="line">
            <a:avLst/>
          </a:prstGeom>
          <a:noFill/>
          <a:ln w="25400">
            <a:solidFill>
              <a:srgbClr val="E58A3B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440680" y="3218688"/>
            <a:ext cx="1371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7C7E"/>
                </a:solidFill>
              </a:rPr>
              <a:t>coupling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142326"/>
          </a:solidFill>
          <a:ln>
            <a:solidFill>
              <a:srgbClr val="14232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(Fₜ, Vₜ) ↦ (Fₜ₊₁, Vₜ₊₁)</a:t>
            </a:r>
            <a:endParaRPr lang="en-US" sz="16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Rationality is already normative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The strongest “pure fact” refuge is not pure.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160520" y="1828800"/>
            <a:ext cx="3840480" cy="822960"/>
          </a:xfrm>
          <a:prstGeom prst="rect">
            <a:avLst/>
          </a:prstGeom>
          <a:solidFill>
            <a:srgbClr val="E8F4F3"/>
          </a:solidFill>
          <a:ln w="20320"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7C7E"/>
                </a:solidFill>
              </a:rPr>
              <a:t>RATIONALITY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286000" cy="914400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4EA7C4"/>
                </a:solidFill>
              </a:rPr>
              <a:t>follow evidence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611880" y="3246120"/>
            <a:ext cx="2286000" cy="914400"/>
          </a:xfrm>
          <a:prstGeom prst="rect">
            <a:avLst/>
          </a:prstGeom>
          <a:solidFill>
            <a:srgbClr val="F8ECE9"/>
          </a:solidFill>
          <a:ln w="20320">
            <a:solidFill>
              <a:srgbClr val="C65C4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65C4B"/>
                </a:solidFill>
              </a:rPr>
              <a:t>avoid contradiction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309360" y="3246120"/>
            <a:ext cx="2286000" cy="914400"/>
          </a:xfrm>
          <a:prstGeom prst="rect">
            <a:avLst/>
          </a:prstGeom>
          <a:solidFill>
            <a:srgbClr val="EFF6E9"/>
          </a:solidFill>
          <a:ln w="20320">
            <a:solidFill>
              <a:srgbClr val="6DAA4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DAA45"/>
                </a:solidFill>
              </a:rPr>
              <a:t>revise belief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006840" y="3246120"/>
            <a:ext cx="2286000" cy="914400"/>
          </a:xfrm>
          <a:prstGeom prst="rect">
            <a:avLst/>
          </a:prstGeom>
          <a:solidFill>
            <a:srgbClr val="FBF0E7"/>
          </a:solidFill>
          <a:ln w="20320">
            <a:solidFill>
              <a:srgbClr val="E58A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58A3B"/>
                </a:solidFill>
              </a:rPr>
              <a:t>prefer better explanations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080760" y="2697480"/>
            <a:ext cx="-4023360" cy="429768"/>
          </a:xfrm>
          <a:prstGeom prst="line">
            <a:avLst/>
          </a:prstGeom>
          <a:noFill/>
          <a:ln w="1905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2697480"/>
            <a:ext cx="-1325880" cy="429768"/>
          </a:xfrm>
          <a:prstGeom prst="line">
            <a:avLst/>
          </a:prstGeom>
          <a:noFill/>
          <a:ln w="1905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80760" y="2697480"/>
            <a:ext cx="1371600" cy="429768"/>
          </a:xfrm>
          <a:prstGeom prst="line">
            <a:avLst/>
          </a:prstGeom>
          <a:noFill/>
          <a:ln w="1905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0760" y="2697480"/>
            <a:ext cx="4069080" cy="429768"/>
          </a:xfrm>
          <a:prstGeom prst="line">
            <a:avLst/>
          </a:prstGeom>
          <a:noFill/>
          <a:ln w="19050">
            <a:solidFill>
              <a:srgbClr val="6B7A7C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51560" y="4754880"/>
            <a:ext cx="10058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04245"/>
                </a:solidFill>
              </a:rPr>
              <a:t>These are standards for how one ought to reason—not merely descriptions of what brains happen to do.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C65C4B"/>
          </a:solidFill>
          <a:ln>
            <a:solidFill>
              <a:srgbClr val="C65C4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Remove every normative standard and “rationality” collapses into causal psychology.</a:t>
            </a:r>
            <a:endParaRPr lang="en-US" sz="16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C7E"/>
          </a:solidFill>
          <a:ln w="12700">
            <a:solidFill>
              <a:srgbClr val="087C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" kern="0" dirty="0">
                <a:solidFill>
                  <a:srgbClr val="087C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PUTNAM · FACT / VALUE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292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A7C"/>
                </a:solidFill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23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417320" cy="0"/>
          </a:xfrm>
          <a:prstGeom prst="line">
            <a:avLst/>
          </a:prstGeom>
          <a:noFill/>
          <a:ln w="27940">
            <a:solidFill>
              <a:srgbClr val="087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8988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A7C"/>
                </a:solidFill>
              </a:rPr>
              <a:t>Distinguishable does not mean cleanly separable.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2834640" cy="1051560"/>
          </a:xfrm>
          <a:prstGeom prst="rect">
            <a:avLst/>
          </a:prstGeom>
          <a:solidFill>
            <a:srgbClr val="EAF3F7"/>
          </a:solidFill>
          <a:ln w="20320">
            <a:solidFill>
              <a:srgbClr val="4EA7C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A7C4"/>
                </a:solidFill>
              </a:rPr>
              <a:t>F ≠ V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63440" y="1828800"/>
            <a:ext cx="2834640" cy="1051560"/>
          </a:xfrm>
          <a:prstGeom prst="rect">
            <a:avLst/>
          </a:prstGeom>
          <a:solidFill>
            <a:srgbClr val="FBF0E7"/>
          </a:solidFill>
          <a:ln w="20320">
            <a:solidFill>
              <a:srgbClr val="E58A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8A3B"/>
                </a:solidFill>
              </a:rPr>
              <a:t>F ⟂ V 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412480" y="1828800"/>
            <a:ext cx="2834640" cy="1051560"/>
          </a:xfrm>
          <a:prstGeom prst="rect">
            <a:avLst/>
          </a:prstGeom>
          <a:solidFill>
            <a:srgbClr val="E8F4F3"/>
          </a:solidFill>
          <a:ln w="20320">
            <a:solidFill>
              <a:srgbClr val="087C7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7C7E"/>
                </a:solidFill>
              </a:rPr>
              <a:t>(Fₜ,Vₜ) →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87C7E"/>
                </a:solidFill>
              </a:rPr>
              <a:t>(Fₜ₊₁,Vₜ₊₁)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28800" y="36576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A7C4"/>
                </a:solidFill>
              </a:rPr>
              <a:t>1. Not identical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41879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8A3B"/>
                </a:solidFill>
              </a:rPr>
              <a:t>2. Not always separable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71830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C7E"/>
                </a:solidFill>
              </a:rPr>
              <a:t>3. Often dynamically entangled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5897880"/>
            <a:ext cx="10725912" cy="530352"/>
          </a:xfrm>
          <a:prstGeom prst="rect">
            <a:avLst/>
          </a:prstGeom>
          <a:solidFill>
            <a:srgbClr val="142326"/>
          </a:solidFill>
          <a:ln>
            <a:solidFill>
              <a:srgbClr val="142326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Putnam’s point is not that facts are values. It is that our best descriptions and our best evaluations often cannot be cleanly pulled apart.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Philosophers and Gamblers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Facts Really Be Separated from Values?</dc:title>
  <dc:subject>Putnam fact-value entanglement YouTube presentation</dc:subject>
  <dc:creator>Phillip Wong</dc:creator>
  <cp:lastModifiedBy>Phillip Wong</cp:lastModifiedBy>
  <cp:revision>1</cp:revision>
  <dcterms:created xsi:type="dcterms:W3CDTF">2026-09-11T10:42:08Z</dcterms:created>
  <dcterms:modified xsi:type="dcterms:W3CDTF">2026-09-11T10:42:08Z</dcterms:modified>
</cp:coreProperties>
</file>