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A3A5"/>
          </a:solidFill>
          <a:ln w="12700">
            <a:solidFill>
              <a:srgbClr val="10A3A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3152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 FACTS REALLY BE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SEPARATED FROM VALUES?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49808" y="237744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C9D8D8"/>
                </a:solidFill>
              </a:rPr>
              <a:t>A visual introduction to Hilary Putnam’s fact–value entanglement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452360" y="914400"/>
            <a:ext cx="3337560" cy="694944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FACTS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60920" y="1737360"/>
            <a:ext cx="365760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D5E2E2"/>
                </a:solidFill>
              </a:rPr>
              <a:t>“The temperature is 90°F”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49640" y="21488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↕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452360" y="2697480"/>
            <a:ext cx="3337560" cy="694944"/>
          </a:xfrm>
          <a:prstGeom prst="rect">
            <a:avLst/>
          </a:prstGeom>
          <a:solidFill>
            <a:srgbClr val="6DAA45"/>
          </a:solidFill>
          <a:ln>
            <a:solidFill>
              <a:srgbClr val="6DAA4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VALUES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6092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D5E2E2"/>
                </a:solidFill>
              </a:rPr>
              <a:t>“Cruelty is bad”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" y="47091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The ordinary picture looks clean.</a:t>
            </a:r>
            <a:endParaRPr lang="en-US" sz="1950" dirty="0"/>
          </a:p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</a:rPr>
              <a:t>Maybe too clean.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1064240" y="63550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CA0A1"/>
                </a:solidFill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traditional dichotomy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picture we are about to test.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1874520"/>
            <a:ext cx="4983480" cy="3063240"/>
          </a:xfrm>
          <a:prstGeom prst="roundRect">
            <a:avLst>
              <a:gd name="adj" fmla="val 2388"/>
            </a:avLst>
          </a:prstGeom>
          <a:solidFill>
            <a:srgbClr val="EAF3F7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874520"/>
            <a:ext cx="73152" cy="3063240"/>
          </a:xfrm>
          <a:prstGeom prst="rect">
            <a:avLst/>
          </a:prstGeom>
          <a:solidFill>
            <a:srgbClr val="4EA7C4"/>
          </a:solidFill>
          <a:ln w="12700">
            <a:solidFill>
              <a:srgbClr val="4EA7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075688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4EA7C4"/>
                </a:solidFill>
              </a:rPr>
              <a:t>F = FACTS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78992" y="2532888"/>
            <a:ext cx="448056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observation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measurement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empirical claims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theory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355080" y="1874520"/>
            <a:ext cx="4983480" cy="3063240"/>
          </a:xfrm>
          <a:prstGeom prst="roundRect">
            <a:avLst>
              <a:gd name="adj" fmla="val 2388"/>
            </a:avLst>
          </a:prstGeom>
          <a:solidFill>
            <a:srgbClr val="FBF0E7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1874520"/>
            <a:ext cx="73152" cy="3063240"/>
          </a:xfrm>
          <a:prstGeom prst="rect">
            <a:avLst/>
          </a:prstGeom>
          <a:solidFill>
            <a:srgbClr val="E58A3B"/>
          </a:solidFill>
          <a:ln w="12700">
            <a:solidFill>
              <a:srgbClr val="E58A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1112" y="2075688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58A3B"/>
                </a:solidFill>
              </a:rPr>
              <a:t>V = VALUES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11112" y="2532888"/>
            <a:ext cx="448056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good / bad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right / wrong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rational / irrational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04245"/>
                </a:solidFill>
              </a:rPr>
              <a:t>ought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343400" y="5010912"/>
            <a:ext cx="35204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2326"/>
                </a:solidFill>
              </a:rPr>
              <a:t>F ∩ V = ∅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The alleged boundary: description on one side, evaluation on the other.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first crack: mutual influence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Even before Putnam, the clean wall starts leaking.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148840"/>
            <a:ext cx="3108960" cy="1207008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DAA45"/>
                </a:solidFill>
              </a:rPr>
              <a:t>V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6DAA45"/>
                </a:solidFill>
              </a:rPr>
              <a:t>values / priorities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83880" y="2148840"/>
            <a:ext cx="3108960" cy="1207008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A7C4"/>
                </a:solidFill>
              </a:rPr>
              <a:t>F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4EA7C4"/>
                </a:solidFill>
              </a:rPr>
              <a:t>facts / institutions / theories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160520" y="2542032"/>
            <a:ext cx="3840480" cy="0"/>
          </a:xfrm>
          <a:prstGeom prst="line">
            <a:avLst/>
          </a:prstGeom>
          <a:noFill/>
          <a:ln w="38100">
            <a:solidFill>
              <a:srgbClr val="6DAA45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01000" y="2999232"/>
            <a:ext cx="-3840480" cy="0"/>
          </a:xfrm>
          <a:prstGeom prst="line">
            <a:avLst/>
          </a:prstGeom>
          <a:noFill/>
          <a:ln w="38100">
            <a:solidFill>
              <a:srgbClr val="4EA7C4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60120" y="3822192"/>
            <a:ext cx="42062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4245"/>
                </a:solidFill>
              </a:rPr>
              <a:t>Values select what gets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04245"/>
                </a:solidFill>
              </a:rPr>
              <a:t>built, funded, measured.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3822192"/>
            <a:ext cx="420624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4245"/>
                </a:solidFill>
              </a:rPr>
              <a:t>Facts and consequences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04245"/>
                </a:solidFill>
              </a:rPr>
              <a:t>reshape values next.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4773168"/>
            <a:ext cx="1188720" cy="402336"/>
          </a:xfrm>
          <a:prstGeom prst="rect">
            <a:avLst/>
          </a:prstGeom>
          <a:solidFill>
            <a:srgbClr val="6DAA45"/>
          </a:solidFill>
          <a:ln>
            <a:solidFill>
              <a:srgbClr val="6DAA4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law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304288" y="4773168"/>
            <a:ext cx="1188720" cy="402336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research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94176" y="4773168"/>
            <a:ext cx="1188720" cy="402336"/>
          </a:xfrm>
          <a:prstGeom prst="rect">
            <a:avLst/>
          </a:prstGeom>
          <a:solidFill>
            <a:srgbClr val="E58A3B"/>
          </a:solidFill>
          <a:ln>
            <a:solidFill>
              <a:srgbClr val="E58A3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design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Interaction is real. But interaction alone is not yet Putnam.</a:t>
            </a:r>
            <a:endParaRPr lang="en-US" sz="16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Interaction is not yet entanglement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A useful objection keeps us honest.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48840"/>
            <a:ext cx="2971800" cy="868680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A7C4"/>
                </a:solidFill>
              </a:rPr>
              <a:t>Thermostat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183880" y="2148840"/>
            <a:ext cx="2971800" cy="868680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8A3B"/>
                </a:solidFill>
              </a:rPr>
              <a:t>Furnace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160520" y="2423160"/>
            <a:ext cx="3840480" cy="0"/>
          </a:xfrm>
          <a:prstGeom prst="line">
            <a:avLst/>
          </a:prstGeom>
          <a:noFill/>
          <a:ln w="30480">
            <a:solidFill>
              <a:srgbClr val="4EA7C4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01000" y="2743200"/>
            <a:ext cx="-3840480" cy="0"/>
          </a:xfrm>
          <a:prstGeom prst="line">
            <a:avLst/>
          </a:prstGeom>
          <a:noFill/>
          <a:ln w="30480">
            <a:solidFill>
              <a:srgbClr val="E58A3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051560" y="3566160"/>
            <a:ext cx="2971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6"/>
                </a:solidFill>
              </a:rPr>
              <a:t>They interact.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955280" y="3566160"/>
            <a:ext cx="34290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6"/>
                </a:solidFill>
              </a:rPr>
              <a:t>They remain distinct.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20240" y="4617720"/>
            <a:ext cx="246888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C7E"/>
                </a:solidFill>
              </a:rPr>
              <a:t>V → F and F → V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577840" y="4480560"/>
            <a:ext cx="10058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65C4B"/>
                </a:solidFill>
              </a:rPr>
              <a:t>≠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315200" y="4617720"/>
            <a:ext cx="30175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65C4B"/>
                </a:solidFill>
              </a:rPr>
              <a:t>conceptual inseparability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C65C4B"/>
          </a:solidFill>
          <a:ln>
            <a:solidFill>
              <a:srgbClr val="C65C4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This slide blocks the sloppy version of the argument.</a:t>
            </a:r>
            <a:endParaRPr lang="en-US" sz="16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 the thick concept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Putnam’s pressure point is conceptual, not merely causal.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2606040" y="1828800"/>
            <a:ext cx="3520440" cy="2926080"/>
          </a:xfrm>
          <a:prstGeom prst="ellipse">
            <a:avLst/>
          </a:prstGeom>
          <a:solidFill>
            <a:srgbClr val="EAF3F7">
              <a:alpha val="94000"/>
            </a:srgbClr>
          </a:solidFill>
          <a:ln w="25400">
            <a:solidFill>
              <a:srgbClr val="4EA7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15000" y="1828800"/>
            <a:ext cx="3520440" cy="2926080"/>
          </a:xfrm>
          <a:prstGeom prst="ellipse">
            <a:avLst/>
          </a:prstGeom>
          <a:solidFill>
            <a:srgbClr val="FBF0E7">
              <a:alpha val="94000"/>
            </a:srgbClr>
          </a:solidFill>
          <a:ln w="25400">
            <a:solidFill>
              <a:srgbClr val="E58A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54680" y="2057400"/>
            <a:ext cx="18288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EA7C4"/>
                </a:solidFill>
              </a:rPr>
              <a:t>description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995160" y="2057400"/>
            <a:ext cx="16459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58A3B"/>
                </a:solidFill>
              </a:rPr>
              <a:t>evaluation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0600" y="2743200"/>
            <a:ext cx="25603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142326"/>
                </a:solidFill>
              </a:rPr>
              <a:t>CRUEL</a:t>
            </a:r>
            <a:endParaRPr lang="en-US" sz="3700" dirty="0"/>
          </a:p>
        </p:txBody>
      </p:sp>
      <p:sp>
        <p:nvSpPr>
          <p:cNvPr id="13" name="Text 11"/>
          <p:cNvSpPr/>
          <p:nvPr/>
        </p:nvSpPr>
        <p:spPr>
          <a:xfrm>
            <a:off x="1828800" y="4937760"/>
            <a:ext cx="850392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04245"/>
                </a:solidFill>
              </a:rPr>
              <a:t>“The guard behaved cruelly toward the prisoner.”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A thick concept says what happened and how to assess it.</a:t>
            </a:r>
            <a:endParaRPr lang="en-US" sz="1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tempting decomposition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clean split tries to survive.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331720"/>
            <a:ext cx="1920240" cy="777240"/>
          </a:xfrm>
          <a:prstGeom prst="rect">
            <a:avLst/>
          </a:prstGeom>
          <a:solidFill>
            <a:srgbClr val="FFFFFF"/>
          </a:solidFill>
          <a:ln w="20320">
            <a:solidFill>
              <a:srgbClr val="14232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42326"/>
                </a:solidFill>
              </a:rPr>
              <a:t>CRUEL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2788920" y="2651760"/>
            <a:ext cx="1188720" cy="-59436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88920" y="2697480"/>
            <a:ext cx="1188720" cy="146304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069080" y="1572768"/>
            <a:ext cx="7086600" cy="1691640"/>
          </a:xfrm>
          <a:prstGeom prst="roundRect">
            <a:avLst>
              <a:gd name="adj" fmla="val 4324"/>
            </a:avLst>
          </a:prstGeom>
          <a:solidFill>
            <a:srgbClr val="EAF3F7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69080" y="1572768"/>
            <a:ext cx="73152" cy="1691640"/>
          </a:xfrm>
          <a:prstGeom prst="rect">
            <a:avLst/>
          </a:prstGeom>
          <a:solidFill>
            <a:srgbClr val="4EA7C4"/>
          </a:solidFill>
          <a:ln w="12700">
            <a:solidFill>
              <a:srgbClr val="4EA7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773936"/>
            <a:ext cx="6629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4EA7C4"/>
                </a:solidFill>
              </a:rPr>
              <a:t>D = NEUTRAL DESCRIPTION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25112" y="2231136"/>
            <a:ext cx="6583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304245"/>
                </a:solidFill>
              </a:rPr>
              <a:t>hit the prisoner · humiliated him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304245"/>
                </a:solidFill>
              </a:rPr>
              <a:t>withheld food · caused pain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4069080" y="3657600"/>
            <a:ext cx="7086600" cy="1691640"/>
          </a:xfrm>
          <a:prstGeom prst="roundRect">
            <a:avLst>
              <a:gd name="adj" fmla="val 4324"/>
            </a:avLst>
          </a:prstGeom>
          <a:solidFill>
            <a:srgbClr val="FBF0E7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69080" y="3657600"/>
            <a:ext cx="73152" cy="1691640"/>
          </a:xfrm>
          <a:prstGeom prst="rect">
            <a:avLst/>
          </a:prstGeom>
          <a:solidFill>
            <a:srgbClr val="E58A3B"/>
          </a:solidFill>
          <a:ln w="12700">
            <a:solidFill>
              <a:srgbClr val="E58A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3858768"/>
            <a:ext cx="6629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58A3B"/>
                </a:solidFill>
              </a:rPr>
              <a:t>E = EVALUATION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325112" y="4315968"/>
            <a:ext cx="658368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304245"/>
                </a:solidFill>
              </a:rPr>
              <a:t>bad · wrong · condemnable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304245"/>
                </a:solidFill>
              </a:rPr>
              <a:t>not to be done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C65C4B"/>
          </a:solidFill>
          <a:ln>
            <a:solidFill>
              <a:srgbClr val="C65C4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Cruel = D + E ?  That is the tempting rescue operation.</a:t>
            </a:r>
            <a:endParaRPr lang="en-US" sz="1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Putnam: not so fast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value is not merely stapled on afterward.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58368" y="1828800"/>
            <a:ext cx="2743200" cy="3090672"/>
          </a:xfrm>
          <a:prstGeom prst="roundRect">
            <a:avLst>
              <a:gd name="adj" fmla="val 2667"/>
            </a:avLst>
          </a:prstGeom>
          <a:solidFill>
            <a:srgbClr val="EAF3F7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1828800"/>
            <a:ext cx="73152" cy="3090672"/>
          </a:xfrm>
          <a:prstGeom prst="rect">
            <a:avLst/>
          </a:prstGeom>
          <a:solidFill>
            <a:srgbClr val="4EA7C4"/>
          </a:solidFill>
          <a:ln w="12700">
            <a:solidFill>
              <a:srgbClr val="4EA7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0299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4EA7C4"/>
                </a:solidFill>
              </a:rPr>
              <a:t>RAW BEHAVIORS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2487168"/>
            <a:ext cx="2240280" cy="2267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80" dirty="0">
                <a:solidFill>
                  <a:srgbClr val="304245"/>
                </a:solidFill>
              </a:rPr>
              <a:t>caused pain</a:t>
            </a:r>
            <a:endParaRPr lang="en-US" sz="1580" dirty="0"/>
          </a:p>
          <a:p>
            <a:pPr indent="0" marL="0">
              <a:buNone/>
            </a:pPr>
            <a:r>
              <a:rPr lang="en-US" sz="1580" dirty="0">
                <a:solidFill>
                  <a:srgbClr val="304245"/>
                </a:solidFill>
              </a:rPr>
              <a:t>taught discipline</a:t>
            </a:r>
            <a:endParaRPr lang="en-US" sz="1580" dirty="0"/>
          </a:p>
          <a:p>
            <a:pPr indent="0" marL="0">
              <a:buNone/>
            </a:pPr>
            <a:r>
              <a:rPr lang="en-US" sz="1580" dirty="0">
                <a:solidFill>
                  <a:srgbClr val="304245"/>
                </a:solidFill>
              </a:rPr>
              <a:t>humiliated for amusement</a:t>
            </a:r>
            <a:endParaRPr lang="en-US" sz="1580" dirty="0"/>
          </a:p>
          <a:p>
            <a:pPr indent="0" marL="0">
              <a:buNone/>
            </a:pPr>
            <a:r>
              <a:rPr lang="en-US" sz="1580" dirty="0">
                <a:solidFill>
                  <a:srgbClr val="304245"/>
                </a:solidFill>
              </a:rPr>
              <a:t>followed policy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251960" y="2331720"/>
            <a:ext cx="3063240" cy="1143000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C7E"/>
                </a:solidFill>
              </a:rPr>
              <a:t>Which facts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87C7E"/>
                </a:solidFill>
              </a:rPr>
              <a:t>are relevant?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458200" y="2331720"/>
            <a:ext cx="2743200" cy="1143000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58A3B"/>
                </a:solidFill>
              </a:rPr>
              <a:t>Cruelty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E58A3B"/>
                </a:solidFill>
              </a:rPr>
              <a:t>judgment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3520440" y="2907792"/>
            <a:ext cx="594360" cy="0"/>
          </a:xfrm>
          <a:prstGeom prst="line">
            <a:avLst/>
          </a:prstGeom>
          <a:noFill/>
          <a:ln w="30480">
            <a:solidFill>
              <a:srgbClr val="4EA7C4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52360" y="2907792"/>
            <a:ext cx="850392" cy="0"/>
          </a:xfrm>
          <a:prstGeom prst="line">
            <a:avLst/>
          </a:prstGeom>
          <a:noFill/>
          <a:ln w="30480">
            <a:solidFill>
              <a:srgbClr val="087C7E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29800" y="3767328"/>
            <a:ext cx="-3840480" cy="804672"/>
          </a:xfrm>
          <a:prstGeom prst="line">
            <a:avLst/>
          </a:prstGeom>
          <a:noFill/>
          <a:ln w="27940">
            <a:solidFill>
              <a:srgbClr val="E58A3B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4297680" y="4160520"/>
            <a:ext cx="32461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04245"/>
                </a:solidFill>
              </a:rPr>
              <a:t>evaluative understanding guides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304245"/>
                </a:solidFill>
              </a:rPr>
              <a:t>selection and interpretation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</a:rPr>
              <a:t>To recognize the relevant facts as cruelty, you already need the evaluative concept.</a:t>
            </a:r>
            <a:endParaRPr lang="en-US" sz="1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visual model of judgment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This is our map, not Putnam’s math.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417320" y="5303520"/>
            <a:ext cx="8732520" cy="0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417320" y="5303520"/>
            <a:ext cx="0" cy="-3337560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549640" y="5449824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descriptive content  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46504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evaluative content  v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16168" y="3054096"/>
            <a:ext cx="329184" cy="329184"/>
          </a:xfrm>
          <a:prstGeom prst="ellipse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920240"/>
            <a:ext cx="2331720" cy="713232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87C7E"/>
                </a:solidFill>
              </a:rPr>
              <a:t>J = (f, v)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663440" y="3749040"/>
            <a:ext cx="297180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4245"/>
                </a:solidFill>
              </a:rPr>
              <a:t>each judgment has a descriptive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04245"/>
                </a:solidFill>
              </a:rPr>
              <a:t>and evaluative coordinate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The model lets us avoid the dumb claim that facts and values are simply identical.</a:t>
            </a:r>
            <a:endParaRPr lang="en-US" sz="16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Some judgments lean descriptive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model allows degrees.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280160" y="5321808"/>
            <a:ext cx="9144000" cy="0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280160" y="5321808"/>
            <a:ext cx="0" cy="-3401568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823960" y="5468112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descriptive content  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700784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evaluative content  v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887968" y="4407408"/>
            <a:ext cx="329184" cy="329184"/>
          </a:xfrm>
          <a:prstGeom prst="ellipse">
            <a:avLst/>
          </a:prstGeom>
          <a:solidFill>
            <a:srgbClr val="4EA7C4"/>
          </a:solidFill>
          <a:ln w="12700">
            <a:solidFill>
              <a:srgbClr val="4EA7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938528"/>
            <a:ext cx="3017520" cy="658368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A7C4"/>
                </a:solidFill>
              </a:rPr>
              <a:t>J₁ ≈ (0.95, 0.05)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2971800"/>
            <a:ext cx="3154680" cy="1097280"/>
          </a:xfrm>
          <a:prstGeom prst="roundRect">
            <a:avLst>
              <a:gd name="adj" fmla="val 6667"/>
            </a:avLst>
          </a:prstGeom>
          <a:solidFill>
            <a:srgbClr val="EAF3F7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0" y="2971800"/>
            <a:ext cx="73152" cy="1097280"/>
          </a:xfrm>
          <a:prstGeom prst="rect">
            <a:avLst/>
          </a:prstGeom>
          <a:solidFill>
            <a:srgbClr val="4EA7C4"/>
          </a:solidFill>
          <a:ln w="12700">
            <a:solidFill>
              <a:srgbClr val="4EA7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71232" y="317296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4EA7C4"/>
                </a:solidFill>
              </a:rPr>
              <a:t>EXAMPLE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571232" y="3630168"/>
            <a:ext cx="26517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04245"/>
                </a:solidFill>
              </a:rPr>
              <a:t>“The thermometer reads 22°C.”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4EA7C4"/>
          </a:solidFill>
          <a:ln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Close to the descriptive axis does not mean metaphysically value-free.</a:t>
            </a:r>
            <a:endParaRPr lang="en-US" sz="16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Some judgments lean evaluative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other extreme exists too.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280160" y="5321808"/>
            <a:ext cx="9144000" cy="0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280160" y="5321808"/>
            <a:ext cx="0" cy="-3401568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823960" y="5468112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descriptive content  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700784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evaluative content  v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67128" y="2231136"/>
            <a:ext cx="329184" cy="329184"/>
          </a:xfrm>
          <a:prstGeom prst="ellipse">
            <a:avLst/>
          </a:prstGeom>
          <a:solidFill>
            <a:srgbClr val="E58A3B"/>
          </a:solidFill>
          <a:ln w="12700">
            <a:solidFill>
              <a:srgbClr val="E58A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0" y="1938528"/>
            <a:ext cx="3017520" cy="658368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8A3B"/>
                </a:solidFill>
              </a:rPr>
              <a:t>J₂ ≈ (0.10, 0.90)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423160" y="2971800"/>
            <a:ext cx="3246120" cy="1188720"/>
          </a:xfrm>
          <a:prstGeom prst="roundRect">
            <a:avLst>
              <a:gd name="adj" fmla="val 6154"/>
            </a:avLst>
          </a:prstGeom>
          <a:solidFill>
            <a:srgbClr val="FBF0E7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23160" y="2971800"/>
            <a:ext cx="73152" cy="1188720"/>
          </a:xfrm>
          <a:prstGeom prst="rect">
            <a:avLst/>
          </a:prstGeom>
          <a:solidFill>
            <a:srgbClr val="E58A3B"/>
          </a:solidFill>
          <a:ln w="12700">
            <a:solidFill>
              <a:srgbClr val="E58A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79192" y="3172968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E58A3B"/>
                </a:solidFill>
              </a:rPr>
              <a:t>EXAMPLES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79192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304245"/>
                </a:solidFill>
              </a:rPr>
              <a:t>“That was admirable.”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04245"/>
                </a:solidFill>
              </a:rPr>
              <a:t>“That was disgusting.”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E58A3B"/>
          </a:solidFill>
          <a:ln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70" b="1" dirty="0">
                <a:solidFill>
                  <a:srgbClr val="FFFFFF"/>
                </a:solidFill>
              </a:rPr>
              <a:t>Some claims are overwhelmingly evaluative without being empty of description.</a:t>
            </a:r>
            <a:endParaRPr lang="en-US" sz="157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thick region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Much of human life sits in the middle.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325880" y="5285232"/>
            <a:ext cx="9098280" cy="0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325880" y="5285232"/>
            <a:ext cx="0" cy="-3364992"/>
          </a:xfrm>
          <a:prstGeom prst="line">
            <a:avLst/>
          </a:prstGeom>
          <a:noFill/>
          <a:ln w="1651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823960" y="5431536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descriptive content  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700784"/>
            <a:ext cx="182880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7A7C"/>
                </a:solidFill>
              </a:rPr>
              <a:t>evaluative content  v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4680" y="2331720"/>
            <a:ext cx="4572000" cy="2240280"/>
          </a:xfrm>
          <a:prstGeom prst="ellipse">
            <a:avLst/>
          </a:prstGeom>
          <a:solidFill>
            <a:srgbClr val="E8F4F3">
              <a:alpha val="86000"/>
            </a:srgbClr>
          </a:solidFill>
          <a:ln w="20320">
            <a:solidFill>
              <a:srgbClr val="087C7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77640" y="2724912"/>
            <a:ext cx="182880" cy="182880"/>
          </a:xfrm>
          <a:prstGeom prst="ellipse">
            <a:avLst/>
          </a:prstGeom>
          <a:solidFill>
            <a:srgbClr val="C65C4B"/>
          </a:solidFill>
          <a:ln w="12700">
            <a:solidFill>
              <a:srgbClr val="C65C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78808" y="2670048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65C4B"/>
                </a:solidFill>
              </a:rPr>
              <a:t>cruel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83480" y="3127248"/>
            <a:ext cx="182880" cy="182880"/>
          </a:xfrm>
          <a:prstGeom prst="ellipse">
            <a:avLst/>
          </a:prstGeom>
          <a:solidFill>
            <a:srgbClr val="6DAA45"/>
          </a:solidFill>
          <a:ln w="12700">
            <a:solidFill>
              <a:srgbClr val="6DAA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4648" y="3072384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DAA45"/>
                </a:solidFill>
              </a:rPr>
              <a:t>brave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2606040"/>
            <a:ext cx="182880" cy="182880"/>
          </a:xfrm>
          <a:prstGeom prst="ellipse">
            <a:avLst/>
          </a:prstGeom>
          <a:solidFill>
            <a:srgbClr val="E58A3B"/>
          </a:solidFill>
          <a:ln w="12700">
            <a:solidFill>
              <a:srgbClr val="E58A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2551176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58A3B"/>
                </a:solidFill>
              </a:rPr>
              <a:t>unjust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86200" y="3703320"/>
            <a:ext cx="182880" cy="182880"/>
          </a:xfrm>
          <a:prstGeom prst="ellipse">
            <a:avLst/>
          </a:prstGeom>
          <a:solidFill>
            <a:srgbClr val="4EA7C4"/>
          </a:solidFill>
          <a:ln w="12700">
            <a:solidFill>
              <a:srgbClr val="4EA7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87368" y="3648456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A7C4"/>
                </a:solidFill>
              </a:rPr>
              <a:t>dishonest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852160" y="3730752"/>
            <a:ext cx="182880" cy="182880"/>
          </a:xfrm>
          <a:prstGeom prst="ellipse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53328" y="3675888"/>
            <a:ext cx="141732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7C7E"/>
                </a:solidFill>
              </a:rPr>
              <a:t>reasonable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Thick concepts occupy the zone where description and evaluation travel together.</a:t>
            </a:r>
            <a:endParaRPr lang="en-US" sz="16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Static entanglement is only the beginning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Now we let the picture move through time.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234440" y="2148840"/>
            <a:ext cx="2148840" cy="1097280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A7C4"/>
                </a:solidFill>
              </a:rPr>
              <a:t>J₀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947672" y="3474720"/>
            <a:ext cx="731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7C"/>
                </a:solidFill>
              </a:rPr>
              <a:t>t₀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0" y="2697480"/>
            <a:ext cx="1051560" cy="0"/>
          </a:xfrm>
          <a:prstGeom prst="line">
            <a:avLst/>
          </a:prstGeom>
          <a:noFill/>
          <a:ln w="2794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663440" y="2148840"/>
            <a:ext cx="2148840" cy="1097280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7C7E"/>
                </a:solidFill>
              </a:rPr>
              <a:t>J₁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376672" y="3474720"/>
            <a:ext cx="731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7C"/>
                </a:solidFill>
              </a:rPr>
              <a:t>t₁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03720" y="2697480"/>
            <a:ext cx="1051560" cy="0"/>
          </a:xfrm>
          <a:prstGeom prst="line">
            <a:avLst/>
          </a:prstGeom>
          <a:noFill/>
          <a:ln w="2794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092440" y="2148840"/>
            <a:ext cx="2148840" cy="1097280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58A3B"/>
                </a:solidFill>
              </a:rPr>
              <a:t>J₂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805672" y="3474720"/>
            <a:ext cx="73152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A7C"/>
                </a:solidFill>
              </a:rPr>
              <a:t>t₂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31920" y="4434840"/>
            <a:ext cx="429768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2326"/>
                </a:solidFill>
              </a:rPr>
              <a:t>Jₜ = (fₜ, vₜ)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</a:rPr>
              <a:t>The judgment changes because both factual situation and evaluative orientation can change.</a:t>
            </a:r>
            <a:endParaRPr lang="en-US" sz="15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Values guide inquiry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Inquiry starts with standards, interests, and priorities.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057400"/>
            <a:ext cx="3154680" cy="1234440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DAA45"/>
                </a:solidFill>
              </a:rPr>
              <a:t>V₀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6DAA45"/>
                </a:solidFill>
              </a:rPr>
              <a:t>starting values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83880" y="2057400"/>
            <a:ext cx="3154680" cy="1234440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EA7C4"/>
                </a:solidFill>
              </a:rPr>
              <a:t>T₁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4EA7C4"/>
                </a:solidFill>
              </a:rPr>
              <a:t>theory / practice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187952" y="2670048"/>
            <a:ext cx="3813048" cy="0"/>
          </a:xfrm>
          <a:prstGeom prst="line">
            <a:avLst/>
          </a:prstGeom>
          <a:noFill/>
          <a:ln w="38100">
            <a:solidFill>
              <a:srgbClr val="087C7E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96112" y="3749040"/>
            <a:ext cx="4754880" cy="1325880"/>
          </a:xfrm>
          <a:prstGeom prst="roundRect">
            <a:avLst>
              <a:gd name="adj" fmla="val 5517"/>
            </a:avLst>
          </a:prstGeom>
          <a:solidFill>
            <a:srgbClr val="EFF6E9"/>
          </a:solidFill>
          <a:ln w="13970">
            <a:solidFill>
              <a:srgbClr val="D8E2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749040"/>
            <a:ext cx="73152" cy="1325880"/>
          </a:xfrm>
          <a:prstGeom prst="rect">
            <a:avLst/>
          </a:prstGeom>
          <a:solidFill>
            <a:srgbClr val="6DAA45"/>
          </a:solidFill>
          <a:ln w="12700">
            <a:solidFill>
              <a:srgbClr val="6DAA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2144" y="39502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6DAA45"/>
                </a:solidFill>
              </a:rPr>
              <a:t>VALUES ASK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52144" y="4407408"/>
            <a:ext cx="425196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70" dirty="0">
                <a:solidFill>
                  <a:srgbClr val="304245"/>
                </a:solidFill>
              </a:rPr>
              <a:t>What counts as important?</a:t>
            </a:r>
            <a:endParaRPr lang="en-US" sz="1470" dirty="0"/>
          </a:p>
          <a:p>
            <a:pPr indent="0" marL="0">
              <a:buNone/>
            </a:pPr>
            <a:r>
              <a:rPr lang="en-US" sz="1470" dirty="0">
                <a:solidFill>
                  <a:srgbClr val="304245"/>
                </a:solidFill>
              </a:rPr>
              <a:t>What counts as elegant?</a:t>
            </a:r>
            <a:endParaRPr lang="en-US" sz="1470" dirty="0"/>
          </a:p>
          <a:p>
            <a:pPr indent="0" marL="0">
              <a:buNone/>
            </a:pPr>
            <a:r>
              <a:rPr lang="en-US" sz="1470" dirty="0">
                <a:solidFill>
                  <a:srgbClr val="304245"/>
                </a:solidFill>
              </a:rPr>
              <a:t>What counts as explanation?</a:t>
            </a:r>
            <a:endParaRPr lang="en-US" sz="1470" dirty="0"/>
          </a:p>
        </p:txBody>
      </p:sp>
      <p:sp>
        <p:nvSpPr>
          <p:cNvPr id="15" name="Text 13"/>
          <p:cNvSpPr/>
          <p:nvPr/>
        </p:nvSpPr>
        <p:spPr>
          <a:xfrm>
            <a:off x="6629400" y="3931920"/>
            <a:ext cx="1508760" cy="438912"/>
          </a:xfrm>
          <a:prstGeom prst="rect">
            <a:avLst/>
          </a:prstGeom>
          <a:solidFill>
            <a:srgbClr val="6DAA45"/>
          </a:solidFill>
          <a:ln>
            <a:solidFill>
              <a:srgbClr val="6DAA45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simplicity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12480" y="3931920"/>
            <a:ext cx="1508760" cy="438912"/>
          </a:xfrm>
          <a:prstGeom prst="rect">
            <a:avLst/>
          </a:prstGeom>
          <a:solidFill>
            <a:srgbClr val="4EA7C4"/>
          </a:solidFill>
          <a:ln>
            <a:solidFill>
              <a:srgbClr val="4EA7C4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evidence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29400" y="4526280"/>
            <a:ext cx="1508760" cy="43891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scope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412480" y="4526280"/>
            <a:ext cx="1508760" cy="438912"/>
          </a:xfrm>
          <a:prstGeom prst="rect">
            <a:avLst/>
          </a:prstGeom>
          <a:solidFill>
            <a:srgbClr val="E58A3B"/>
          </a:solidFill>
          <a:ln>
            <a:solidFill>
              <a:srgbClr val="E58A3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fairness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Values do not dictate the answer. They help determine the question and the standard of success.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Inquiry reshapes value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return loop is where the machine gets interesting.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13232" y="2148840"/>
            <a:ext cx="1645920" cy="896112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DAA45"/>
                </a:solidFill>
              </a:rPr>
              <a:t>V₀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423160" y="2596896"/>
            <a:ext cx="411480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907792" y="2148840"/>
            <a:ext cx="1645920" cy="896112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A7C4"/>
                </a:solidFill>
              </a:rPr>
              <a:t>T₁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617720" y="2596896"/>
            <a:ext cx="411480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102352" y="2148840"/>
            <a:ext cx="1645920" cy="896112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DAA45"/>
                </a:solidFill>
              </a:rPr>
              <a:t>V₁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12280" y="2596896"/>
            <a:ext cx="411480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296912" y="2148840"/>
            <a:ext cx="1645920" cy="896112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A7C4"/>
                </a:solidFill>
              </a:rPr>
              <a:t>T₂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006840" y="2596896"/>
            <a:ext cx="411480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491472" y="2148840"/>
            <a:ext cx="1645920" cy="896112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58A3B"/>
                </a:solidFill>
              </a:rPr>
              <a:t>V₂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7512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C"/>
                </a:solidFill>
              </a:rPr>
              <a:t>standards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62072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C"/>
                </a:solidFill>
              </a:rPr>
              <a:t>theory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56632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C"/>
                </a:solidFill>
              </a:rPr>
              <a:t>revised standards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251192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C"/>
                </a:solidFill>
              </a:rPr>
              <a:t>new theory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445752" y="3337560"/>
            <a:ext cx="173736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A7C"/>
                </a:solidFill>
              </a:rPr>
              <a:t>new values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4343400"/>
            <a:ext cx="6583680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2326"/>
                </a:solidFill>
              </a:rPr>
              <a:t>V₀ → T₁ → V₁ → T₂ → V₂ → …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Standards shape inquiry; successful inquiry can reshape standards.</a:t>
            </a:r>
            <a:endParaRPr lang="en-US" sz="16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Artifact loop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Values become things; things train future values.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8368" y="2148840"/>
            <a:ext cx="2148840" cy="1078992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AA45"/>
                </a:solidFill>
              </a:rPr>
              <a:t>Value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6DAA45"/>
                </a:solidFill>
              </a:rPr>
              <a:t>standards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80360" y="2688336"/>
            <a:ext cx="265176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46120" y="2148840"/>
            <a:ext cx="2148840" cy="1078992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A7C4"/>
                </a:solidFill>
              </a:rPr>
              <a:t>Design / UI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4EA7C4"/>
                </a:solidFill>
              </a:rPr>
              <a:t>Artifact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68112" y="2688336"/>
            <a:ext cx="265176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833872" y="2148840"/>
            <a:ext cx="2148840" cy="1078992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8A3B"/>
                </a:solidFill>
              </a:rPr>
              <a:t>Use /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58A3B"/>
                </a:solidFill>
              </a:rPr>
              <a:t>Experience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055864" y="2688336"/>
            <a:ext cx="265176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421624" y="2148840"/>
            <a:ext cx="2148840" cy="1078992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C7E"/>
                </a:solidFill>
              </a:rPr>
              <a:t>New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87C7E"/>
                </a:solidFill>
              </a:rPr>
              <a:t>standards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783080" y="3886200"/>
            <a:ext cx="768096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4297680" y="4069080"/>
            <a:ext cx="365760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7C7E"/>
                </a:solidFill>
              </a:rPr>
              <a:t>feedback: artifact changes expectation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69080" y="4709160"/>
            <a:ext cx="4069080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42326"/>
                </a:solidFill>
              </a:rPr>
              <a:t>Vₜ → Aₜ → Vₜ₊₁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30" b="1" dirty="0">
                <a:solidFill>
                  <a:srgbClr val="FFFFFF"/>
                </a:solidFill>
              </a:rPr>
              <a:t>Aesthetic and practical values shape artifacts; living with artifacts reshapes taste.</a:t>
            </a:r>
            <a:endParaRPr lang="en-US" sz="15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World, belief, value, action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agent-level feedback loop.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2194560"/>
            <a:ext cx="1828800" cy="1024128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A7C4"/>
                </a:solidFill>
              </a:rPr>
              <a:t>Wₜ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4EA7C4"/>
                </a:solidFill>
              </a:rPr>
              <a:t>world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404872" y="2706624"/>
            <a:ext cx="256032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70632" y="2194560"/>
            <a:ext cx="1828800" cy="1024128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C7E"/>
                </a:solidFill>
              </a:rPr>
              <a:t>Bₜ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87C7E"/>
                </a:solidFill>
              </a:rPr>
              <a:t>belief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72584" y="2706624"/>
            <a:ext cx="256032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5038344" y="2194560"/>
            <a:ext cx="1828800" cy="1024128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AA45"/>
                </a:solidFill>
              </a:rPr>
              <a:t>Vₜ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6DAA45"/>
                </a:solidFill>
              </a:rPr>
              <a:t>value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940296" y="2706624"/>
            <a:ext cx="256032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306056" y="2194560"/>
            <a:ext cx="1828800" cy="1024128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58A3B"/>
                </a:solidFill>
              </a:rPr>
              <a:t>Aₜ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E58A3B"/>
                </a:solidFill>
              </a:rPr>
              <a:t>action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08008" y="2706624"/>
            <a:ext cx="256032" cy="0"/>
          </a:xfrm>
          <a:prstGeom prst="line">
            <a:avLst/>
          </a:prstGeom>
          <a:noFill/>
          <a:ln w="26670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573768" y="2194560"/>
            <a:ext cx="1828800" cy="1024128"/>
          </a:xfrm>
          <a:prstGeom prst="rect">
            <a:avLst/>
          </a:prstGeom>
          <a:solidFill>
            <a:srgbClr val="F8ECE9"/>
          </a:solidFill>
          <a:ln w="20320">
            <a:solidFill>
              <a:srgbClr val="C65C4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65C4B"/>
                </a:solidFill>
              </a:rPr>
              <a:t>Wₜ₊₁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C65C4B"/>
                </a:solidFill>
              </a:rPr>
              <a:t>new world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417320" y="3950208"/>
            <a:ext cx="9052560" cy="0"/>
          </a:xfrm>
          <a:prstGeom prst="line">
            <a:avLst/>
          </a:prstGeom>
          <a:noFill/>
          <a:ln w="26670">
            <a:solidFill>
              <a:srgbClr val="087C7E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429000" y="4142232"/>
            <a:ext cx="534924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87C7E"/>
                </a:solidFill>
              </a:rPr>
              <a:t>new world → new evidence → new evaluation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087C7E"/>
          </a:solidFill>
          <a:ln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We do not merely observe state space. Evaluation helps choose the next state.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coupled dynamical system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Not identical. Not independent.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2743200" cy="1005840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EA7C4"/>
                </a:solidFill>
              </a:rPr>
              <a:t>Fₜ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4EA7C4"/>
                </a:solidFill>
              </a:rPr>
              <a:t>factual state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743200" cy="1005840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DAA45"/>
                </a:solidFill>
              </a:rPr>
              <a:t>Vₜ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6DAA45"/>
                </a:solidFill>
              </a:rPr>
              <a:t>value state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549640" y="1965960"/>
            <a:ext cx="2743200" cy="1005840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A7C4"/>
                </a:solidFill>
              </a:rPr>
              <a:t>Fₜ₊₁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549640" y="3840480"/>
            <a:ext cx="2743200" cy="1005840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DAA45"/>
                </a:solidFill>
              </a:rPr>
              <a:t>Vₜ₊₁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983480" y="2816352"/>
            <a:ext cx="2240280" cy="658368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7C7E"/>
                </a:solidFill>
              </a:rPr>
              <a:t>coupling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794760" y="2468880"/>
            <a:ext cx="1033272" cy="493776"/>
          </a:xfrm>
          <a:prstGeom prst="line">
            <a:avLst/>
          </a:prstGeom>
          <a:noFill/>
          <a:ln w="22860">
            <a:solidFill>
              <a:srgbClr val="4EA7C4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94760" y="4343400"/>
            <a:ext cx="1033272" cy="-996696"/>
          </a:xfrm>
          <a:prstGeom prst="line">
            <a:avLst/>
          </a:prstGeom>
          <a:noFill/>
          <a:ln w="22860">
            <a:solidFill>
              <a:srgbClr val="6DAA45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23760" y="2962656"/>
            <a:ext cx="1170432" cy="-493776"/>
          </a:xfrm>
          <a:prstGeom prst="line">
            <a:avLst/>
          </a:prstGeom>
          <a:noFill/>
          <a:ln w="22860">
            <a:solidFill>
              <a:srgbClr val="4EA7C4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23760" y="3346704"/>
            <a:ext cx="1170432" cy="996696"/>
          </a:xfrm>
          <a:prstGeom prst="line">
            <a:avLst/>
          </a:prstGeom>
          <a:noFill/>
          <a:ln w="22860">
            <a:solidFill>
              <a:srgbClr val="6DAA45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142326"/>
          </a:solidFill>
          <a:ln>
            <a:solidFill>
              <a:srgbClr val="14232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(Fₜ, Vₜ) ↦ (Fₜ₊₁, Vₜ₊₁)</a:t>
            </a:r>
            <a:endParaRPr lang="en-US" sz="16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Rationality is already normative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The strongest “pure fact” refuge is not pure.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251960" y="1783080"/>
            <a:ext cx="3657600" cy="804672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7C7E"/>
                </a:solidFill>
              </a:rPr>
              <a:t>RATIONALITY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3127248"/>
            <a:ext cx="2331720" cy="914400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4EA7C4"/>
                </a:solidFill>
              </a:rPr>
              <a:t>follow evidence</a:t>
            </a:r>
            <a:endParaRPr lang="en-US" sz="1480" dirty="0"/>
          </a:p>
        </p:txBody>
      </p:sp>
      <p:sp>
        <p:nvSpPr>
          <p:cNvPr id="10" name="Text 8"/>
          <p:cNvSpPr/>
          <p:nvPr/>
        </p:nvSpPr>
        <p:spPr>
          <a:xfrm>
            <a:off x="3429000" y="3127248"/>
            <a:ext cx="2331720" cy="914400"/>
          </a:xfrm>
          <a:prstGeom prst="rect">
            <a:avLst/>
          </a:prstGeom>
          <a:solidFill>
            <a:srgbClr val="F8ECE9"/>
          </a:solidFill>
          <a:ln w="20320">
            <a:solidFill>
              <a:srgbClr val="C65C4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C65C4B"/>
                </a:solidFill>
              </a:rPr>
              <a:t>avoid contradiction</a:t>
            </a:r>
            <a:endParaRPr lang="en-US" sz="1480" dirty="0"/>
          </a:p>
        </p:txBody>
      </p:sp>
      <p:sp>
        <p:nvSpPr>
          <p:cNvPr id="11" name="Text 9"/>
          <p:cNvSpPr/>
          <p:nvPr/>
        </p:nvSpPr>
        <p:spPr>
          <a:xfrm>
            <a:off x="6126480" y="3127248"/>
            <a:ext cx="2331720" cy="914400"/>
          </a:xfrm>
          <a:prstGeom prst="rect">
            <a:avLst/>
          </a:prstGeom>
          <a:solidFill>
            <a:srgbClr val="EFF6E9"/>
          </a:solidFill>
          <a:ln w="20320">
            <a:solidFill>
              <a:srgbClr val="6DAA45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6DAA45"/>
                </a:solidFill>
              </a:rPr>
              <a:t>revise belief</a:t>
            </a:r>
            <a:endParaRPr lang="en-US" sz="1480" dirty="0"/>
          </a:p>
        </p:txBody>
      </p:sp>
      <p:sp>
        <p:nvSpPr>
          <p:cNvPr id="12" name="Text 10"/>
          <p:cNvSpPr/>
          <p:nvPr/>
        </p:nvSpPr>
        <p:spPr>
          <a:xfrm>
            <a:off x="8823960" y="3127248"/>
            <a:ext cx="2331720" cy="914400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E58A3B"/>
                </a:solidFill>
              </a:rPr>
              <a:t>prefer better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E58A3B"/>
                </a:solidFill>
              </a:rPr>
              <a:t>explanations</a:t>
            </a:r>
            <a:endParaRPr lang="en-US" sz="1480" dirty="0"/>
          </a:p>
        </p:txBody>
      </p:sp>
      <p:sp>
        <p:nvSpPr>
          <p:cNvPr id="13" name="Shape 11"/>
          <p:cNvSpPr/>
          <p:nvPr/>
        </p:nvSpPr>
        <p:spPr>
          <a:xfrm>
            <a:off x="6080760" y="2596896"/>
            <a:ext cx="-4187952" cy="420624"/>
          </a:xfrm>
          <a:prstGeom prst="line">
            <a:avLst/>
          </a:prstGeom>
          <a:noFill/>
          <a:ln w="17145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080760" y="2596896"/>
            <a:ext cx="-1490472" cy="420624"/>
          </a:xfrm>
          <a:prstGeom prst="line">
            <a:avLst/>
          </a:prstGeom>
          <a:noFill/>
          <a:ln w="17145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80760" y="2596896"/>
            <a:ext cx="1207008" cy="420624"/>
          </a:xfrm>
          <a:prstGeom prst="line">
            <a:avLst/>
          </a:prstGeom>
          <a:noFill/>
          <a:ln w="17145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80760" y="2596896"/>
            <a:ext cx="3904488" cy="420624"/>
          </a:xfrm>
          <a:prstGeom prst="line">
            <a:avLst/>
          </a:prstGeom>
          <a:noFill/>
          <a:ln w="17145">
            <a:solidFill>
              <a:srgbClr val="6B7A7C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51560" y="4617720"/>
            <a:ext cx="1005840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04245"/>
                </a:solidFill>
              </a:rPr>
              <a:t>These are standards for how one ought to reason — not merely descriptions of what brains happen to do.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C65C4B"/>
          </a:solidFill>
          <a:ln>
            <a:solidFill>
              <a:srgbClr val="C65C4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FFFFFF"/>
                </a:solidFill>
              </a:rPr>
              <a:t>Strip out every norm and rationality collapses into causal psychology.</a:t>
            </a:r>
            <a:endParaRPr lang="en-US" sz="16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87C7E"/>
          </a:solidFill>
          <a:ln w="12700">
            <a:solidFill>
              <a:srgbClr val="087C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10896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" kern="0" dirty="0">
                <a:solidFill>
                  <a:srgbClr val="087C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PUTNAM · FACT / VALUE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09960" y="2926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A7C"/>
                </a:solidFill>
              </a:rPr>
              <a:t>19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423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417320" cy="0"/>
          </a:xfrm>
          <a:prstGeom prst="line">
            <a:avLst/>
          </a:prstGeom>
          <a:noFill/>
          <a:ln w="27940">
            <a:solidFill>
              <a:srgbClr val="087C7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89888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dirty="0">
                <a:solidFill>
                  <a:srgbClr val="6B7A7C"/>
                </a:solidFill>
              </a:rPr>
              <a:t>Distinguishable does not mean cleanly separable.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1828800"/>
            <a:ext cx="2880360" cy="1005840"/>
          </a:xfrm>
          <a:prstGeom prst="rect">
            <a:avLst/>
          </a:prstGeom>
          <a:solidFill>
            <a:srgbClr val="EAF3F7"/>
          </a:solidFill>
          <a:ln w="20320">
            <a:solidFill>
              <a:srgbClr val="4EA7C4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A7C4"/>
                </a:solidFill>
              </a:rPr>
              <a:t>F ≠ V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617720" y="1828800"/>
            <a:ext cx="2971800" cy="1005840"/>
          </a:xfrm>
          <a:prstGeom prst="rect">
            <a:avLst/>
          </a:prstGeom>
          <a:solidFill>
            <a:srgbClr val="FBF0E7"/>
          </a:solidFill>
          <a:ln w="20320">
            <a:solidFill>
              <a:srgbClr val="E58A3B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E58A3B"/>
                </a:solidFill>
              </a:rPr>
              <a:t>F and V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E58A3B"/>
                </a:solidFill>
              </a:rPr>
              <a:t>are not independent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8458200" y="1828800"/>
            <a:ext cx="2880360" cy="1005840"/>
          </a:xfrm>
          <a:prstGeom prst="rect">
            <a:avLst/>
          </a:prstGeom>
          <a:solidFill>
            <a:srgbClr val="E8F4F3"/>
          </a:solidFill>
          <a:ln w="20320">
            <a:solidFill>
              <a:srgbClr val="087C7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C7E"/>
                </a:solidFill>
              </a:rPr>
              <a:t>(Fₜ,Vₜ) →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87C7E"/>
                </a:solidFill>
              </a:rPr>
              <a:t>(Fₜ₊₁,Vₜ₊₁)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28800" y="365760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A7C4"/>
                </a:solidFill>
              </a:rPr>
              <a:t>1. Not identical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828800" y="4187952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58A3B"/>
                </a:solidFill>
              </a:rPr>
              <a:t>2. Not sealed off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28800" y="4718304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C7E"/>
                </a:solidFill>
              </a:rPr>
              <a:t>3. Often dynamically entangled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5897880"/>
            <a:ext cx="10725912" cy="530352"/>
          </a:xfrm>
          <a:prstGeom prst="rect">
            <a:avLst/>
          </a:prstGeom>
          <a:solidFill>
            <a:srgbClr val="142326"/>
          </a:solidFill>
          <a:ln>
            <a:solidFill>
              <a:srgbClr val="142326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</a:rPr>
              <a:t>Putnam’s point is not that facts are values. It is that our best descriptions and evaluations often cannot be cleanly pulled apart.</a:t>
            </a:r>
            <a:endParaRPr lang="en-US" sz="14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Philosophers and Gamblers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 Facts Really Be Separated from Values?</dc:title>
  <dc:subject>Putnam fact-value entanglement YouTube presentation</dc:subject>
  <dc:creator>Phillip Wong</dc:creator>
  <cp:lastModifiedBy>Phillip Wong</cp:lastModifiedBy>
  <cp:revision>1</cp:revision>
  <dcterms:created xsi:type="dcterms:W3CDTF">2026-09-11T18:30:50Z</dcterms:created>
  <dcterms:modified xsi:type="dcterms:W3CDTF">2026-09-11T18:30:50Z</dcterms:modified>
</cp:coreProperties>
</file>