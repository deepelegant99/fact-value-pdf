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3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  <p:sldMasterId id="2147483661" r:id="rId5"/>
  </p:sldMasterIdLst>
  <p:notesMasterIdLst>
    <p:notesMasterId r:id="rId6"/>
  </p:notesMasterIdLst>
  <p:sldIdLst>
    <p:sldId id="288" r:id="rId19"/>
    <p:sldId id="289" r:id="rId20"/>
    <p:sldId id="290" r:id="rId21"/>
    <p:sldId id="291" r:id="rId22"/>
    <p:sldId id="292" r:id="rId23"/>
    <p:sldId id="293" r:id="rId24"/>
    <p:sldId id="294" r:id="rId25"/>
    <p:sldId id="295" r:id="rId26"/>
    <p:sldId id="296" r:id="rId27"/>
    <p:sldId id="297" r:id="rId28"/>
    <p:sldId id="298" r:id="rId29"/>
    <p:sldId id="299" r:id="rId30"/>
    <p:sldId id="300" r:id="rId31"/>
    <p:sldId id="301" r:id="rId32"/>
    <p:sldId id="302" r:id="rId33"/>
    <p:sldId id="303" r:id="rId34"/>
    <p:sldId id="304" r:id="rId35"/>
    <p:sldId id="305" r:id="rId36"/>
    <p:sldId id="306" r:id="rId37"/>
    <p:sldId id="307" r:id="rId18"/>
    <p:sldId id="308" r:id="rId39"/>
    <p:sldId id="309" r:id="rId17"/>
    <p:sldId id="310" r:id="rId16"/>
    <p:sldId id="311" r:id="rId15"/>
    <p:sldId id="312" r:id="rId14"/>
    <p:sldId id="313" r:id="rId13"/>
    <p:sldId id="314" r:id="rId12"/>
    <p:sldId id="315" r:id="rId11"/>
    <p:sldId id="316" r:id="rId10"/>
    <p:sldId id="317" r:id="rId9"/>
    <p:sldId id="287" r:id="rId38"/>
  </p:sldIdLst>
  <p:sldSz cy="5143500" cx="9144000"/>
  <p:notesSz cx="6858000" cy="9144000"/>
  <p:embeddedFontLst>
    <p:embeddedFont>
      <p:font typeface="Proxima Nova"/>
      <p:regular r:id="rId40"/>
      <p:bold r:id="rId41"/>
      <p:italic r:id="rId42"/>
      <p:boldItalic r:id="rId43"/>
    </p:embeddedFont>
    <p:embeddedFont>
      <p:font typeface="Fira Sans"/>
      <p:regular r:id="rId44"/>
      <p:bold r:id="rId45"/>
      <p:italic r:id="rId46"/>
      <p:boldItalic r:id="rId47"/>
    </p:embeddedFont>
    <p:embeddedFont>
      <p:font typeface="Proxima Nova Semibold"/>
      <p:regular r:id="rId48"/>
      <p:bold r:id="rId49"/>
      <p:boldItalic r:id="rId5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288">
          <p15:clr>
            <a:srgbClr val="9AA0A6"/>
          </p15:clr>
        </p15:guide>
        <p15:guide id="2" orient="horz" pos="267">
          <p15:clr>
            <a:srgbClr val="9AA0A6"/>
          </p15:clr>
        </p15:guide>
        <p15:guide id="3" pos="5472">
          <p15:clr>
            <a:srgbClr val="9AA0A6"/>
          </p15:clr>
        </p15:guide>
        <p15:guide id="4" orient="horz" pos="3005">
          <p15:clr>
            <a:srgbClr val="9AA0A6"/>
          </p15:clr>
        </p15:guide>
        <p15:guide id="5" pos="288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/>
        <p:guide pos="267" orient="horz"/>
        <p:guide pos="5472"/>
        <p:guide pos="3005" orient="horz"/>
        <p:guide pos="288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9" Type="http://schemas.openxmlformats.org/officeDocument/2006/relationships/slide" Target="slides/slide31.xml"/><Relationship Id="rId10" Type="http://schemas.openxmlformats.org/officeDocument/2006/relationships/slide" Target="slides/slide30.xml"/><Relationship Id="rId11" Type="http://schemas.openxmlformats.org/officeDocument/2006/relationships/slide" Target="slides/slide29.xml"/><Relationship Id="rId12" Type="http://schemas.openxmlformats.org/officeDocument/2006/relationships/slide" Target="slides/slide28.xml"/><Relationship Id="rId13" Type="http://schemas.openxmlformats.org/officeDocument/2006/relationships/slide" Target="slides/slide27.xml"/><Relationship Id="rId14" Type="http://schemas.openxmlformats.org/officeDocument/2006/relationships/slide" Target="slides/slide26.xml"/><Relationship Id="rId15" Type="http://schemas.openxmlformats.org/officeDocument/2006/relationships/slide" Target="slides/slide25.xml"/><Relationship Id="rId16" Type="http://schemas.openxmlformats.org/officeDocument/2006/relationships/slide" Target="slides/slide24.xml"/><Relationship Id="rId17" Type="http://schemas.openxmlformats.org/officeDocument/2006/relationships/slide" Target="slides/slide23.xml"/><Relationship Id="rId18" Type="http://schemas.openxmlformats.org/officeDocument/2006/relationships/slide" Target="slides/slide2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Relationship Id="rId22" Type="http://schemas.openxmlformats.org/officeDocument/2006/relationships/slide" Target="slides/slide5.xml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Relationship Id="rId33" Type="http://schemas.openxmlformats.org/officeDocument/2006/relationships/slide" Target="slides/slide16.xml"/><Relationship Id="rId34" Type="http://schemas.openxmlformats.org/officeDocument/2006/relationships/slide" Target="slides/slide17.xml"/><Relationship Id="rId35" Type="http://schemas.openxmlformats.org/officeDocument/2006/relationships/slide" Target="slides/slide18.xml"/><Relationship Id="rId36" Type="http://schemas.openxmlformats.org/officeDocument/2006/relationships/slide" Target="slides/slide19.xml"/><Relationship Id="rId37" Type="http://schemas.openxmlformats.org/officeDocument/2006/relationships/slide" Target="slides/slide20.xml"/><Relationship Id="rId38" Type="http://schemas.openxmlformats.org/officeDocument/2006/relationships/slide" Target="slides/slide32.xml"/><Relationship Id="rId39" Type="http://schemas.openxmlformats.org/officeDocument/2006/relationships/slide" Target="slides/slide22.xml"/><Relationship Id="rId40" Type="http://schemas.openxmlformats.org/officeDocument/2006/relationships/font" Target="fonts/ProximaNova-regular.fntdata"/><Relationship Id="rId41" Type="http://schemas.openxmlformats.org/officeDocument/2006/relationships/font" Target="fonts/ProximaNova-bold.fntdata"/><Relationship Id="rId42" Type="http://schemas.openxmlformats.org/officeDocument/2006/relationships/font" Target="fonts/ProximaNova-italic.fntdata"/><Relationship Id="rId43" Type="http://schemas.openxmlformats.org/officeDocument/2006/relationships/font" Target="fonts/ProximaNova-boldItalic.fntdata"/><Relationship Id="rId44" Type="http://schemas.openxmlformats.org/officeDocument/2006/relationships/font" Target="fonts/FiraSans-regular.fntdata"/><Relationship Id="rId45" Type="http://schemas.openxmlformats.org/officeDocument/2006/relationships/font" Target="fonts/FiraSans-bold.fntdata"/><Relationship Id="rId46" Type="http://schemas.openxmlformats.org/officeDocument/2006/relationships/font" Target="fonts/FiraSans-italic.fntdata"/><Relationship Id="rId47" Type="http://schemas.openxmlformats.org/officeDocument/2006/relationships/font" Target="fonts/FiraSans-boldItalic.fntdata"/><Relationship Id="rId48" Type="http://schemas.openxmlformats.org/officeDocument/2006/relationships/font" Target="fonts/ProximaNovaSemibold-regular.fntdata"/><Relationship Id="rId49" Type="http://schemas.openxmlformats.org/officeDocument/2006/relationships/font" Target="fonts/ProximaNovaSemibold-bold.fntdata"/><Relationship Id="rId50" Type="http://schemas.openxmlformats.org/officeDocument/2006/relationships/font" Target="fonts/ProximaNovaSemibold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80" name="Shape 4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1" name="Google Shape;4181;g94e419fc5a_2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82" name="Google Shape;4182;g94e419fc5a_2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b="1" sz="28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b="1" sz="28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b="1" sz="28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b="1" sz="28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b="1" sz="28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b="1" sz="28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b="1" sz="28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b="1" sz="28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"/>
              <a:buNone/>
              <a:defRPr b="1" sz="2800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Fira Sans"/>
              <a:buChar char="●"/>
              <a:defRPr sz="1800">
                <a:solidFill>
                  <a:schemeClr val="dk2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Sans"/>
              <a:buChar char="○"/>
              <a:defRPr>
                <a:solidFill>
                  <a:schemeClr val="dk2"/>
                </a:solidFill>
                <a:latin typeface="Fira Sans"/>
                <a:ea typeface="Fira Sans"/>
                <a:cs typeface="Fira Sans"/>
                <a:sym typeface="Fira Sans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Sans"/>
              <a:buChar char="■"/>
              <a:defRPr>
                <a:solidFill>
                  <a:schemeClr val="dk2"/>
                </a:solidFill>
                <a:latin typeface="Fira Sans"/>
                <a:ea typeface="Fira Sans"/>
                <a:cs typeface="Fira Sans"/>
                <a:sym typeface="Fira Sans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Sans"/>
              <a:buChar char="●"/>
              <a:defRPr>
                <a:solidFill>
                  <a:schemeClr val="dk2"/>
                </a:solidFill>
                <a:latin typeface="Fira Sans"/>
                <a:ea typeface="Fira Sans"/>
                <a:cs typeface="Fira Sans"/>
                <a:sym typeface="Fira Sans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Sans"/>
              <a:buChar char="○"/>
              <a:defRPr>
                <a:solidFill>
                  <a:schemeClr val="dk2"/>
                </a:solidFill>
                <a:latin typeface="Fira Sans"/>
                <a:ea typeface="Fira Sans"/>
                <a:cs typeface="Fira Sans"/>
                <a:sym typeface="Fira Sans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Sans"/>
              <a:buChar char="■"/>
              <a:defRPr>
                <a:solidFill>
                  <a:schemeClr val="dk2"/>
                </a:solidFill>
                <a:latin typeface="Fira Sans"/>
                <a:ea typeface="Fira Sans"/>
                <a:cs typeface="Fira Sans"/>
                <a:sym typeface="Fira Sans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Sans"/>
              <a:buChar char="●"/>
              <a:defRPr>
                <a:solidFill>
                  <a:schemeClr val="dk2"/>
                </a:solidFill>
                <a:latin typeface="Fira Sans"/>
                <a:ea typeface="Fira Sans"/>
                <a:cs typeface="Fira Sans"/>
                <a:sym typeface="Fira Sans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Sans"/>
              <a:buChar char="○"/>
              <a:defRPr>
                <a:solidFill>
                  <a:schemeClr val="dk2"/>
                </a:solidFill>
                <a:latin typeface="Fira Sans"/>
                <a:ea typeface="Fira Sans"/>
                <a:cs typeface="Fira Sans"/>
                <a:sym typeface="Fira Sans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Fira Sans"/>
              <a:buChar char="■"/>
              <a:defRPr>
                <a:solidFill>
                  <a:schemeClr val="dk2"/>
                </a:solidFill>
                <a:latin typeface="Fira Sans"/>
                <a:ea typeface="Fira Sans"/>
                <a:cs typeface="Fira Sans"/>
                <a:sym typeface="Fira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0E2A47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-29845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-29845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-29845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-29845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-29845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-29845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-29845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-29845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://bit.ly/2PfT4lq" TargetMode="External"/><Relationship Id="rId4" Type="http://schemas.openxmlformats.org/officeDocument/2006/relationships/hyperlink" Target="https://bit.ly/2AB5gGa" TargetMode="External"/><Relationship Id="rId5" Type="http://schemas.openxmlformats.org/officeDocument/2006/relationships/hyperlink" Target="http://bit.ly/33VAFh3" TargetMode="External"/><Relationship Id="rId6" Type="http://schemas.openxmlformats.org/officeDocument/2006/relationships/hyperlink" Target="http://bit.ly/30B07Gq" TargetMode="External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2743200" cy="32004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100" b="1">
                <a:solidFill>
                  <a:srgbClr val="0B7D80"/>
                </a:solidFill>
                <a:latin typeface="Arial"/>
              </a:rPr>
              <a:t>FACT /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05840"/>
            <a:ext cx="5577840" cy="123444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3500" b="1">
                <a:solidFill>
                  <a:srgbClr val="202528"/>
                </a:solidFill>
                <a:latin typeface="Arial"/>
              </a:rPr>
              <a:t>What makes a society successful?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423160"/>
            <a:ext cx="5303520" cy="73152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800" b="0">
                <a:solidFill>
                  <a:srgbClr val="6D7478"/>
                </a:solidFill>
                <a:latin typeface="Arial"/>
              </a:rPr>
              <a:t>An economy grows. A government survives. An empire expands.</a:t>
            </a:r>
          </a:p>
        </p:txBody>
      </p:sp>
      <p:sp>
        <p:nvSpPr>
          <p:cNvPr id="5" name="Oval 4"/>
          <p:cNvSpPr/>
          <p:nvPr/>
        </p:nvSpPr>
        <p:spPr>
          <a:xfrm>
            <a:off x="7132320" y="1417320"/>
            <a:ext cx="3017520" cy="3017520"/>
          </a:xfrm>
          <a:prstGeom prst="ellipse">
            <a:avLst/>
          </a:prstGeom>
          <a:solidFill>
            <a:srgbClr val="E7F4F3"/>
          </a:solidFill>
          <a:ln w="25400">
            <a:solidFill>
              <a:srgbClr val="0B7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0" y="2651760"/>
            <a:ext cx="1737360" cy="50292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2000" b="1">
                <a:solidFill>
                  <a:srgbClr val="0B7D80"/>
                </a:solidFill>
                <a:latin typeface="Arial"/>
              </a:rPr>
              <a:t>FACT</a:t>
            </a:r>
          </a:p>
        </p:txBody>
      </p:sp>
      <p:sp>
        <p:nvSpPr>
          <p:cNvPr id="7" name="Oval 6"/>
          <p:cNvSpPr/>
          <p:nvPr/>
        </p:nvSpPr>
        <p:spPr>
          <a:xfrm>
            <a:off x="8275320" y="2423160"/>
            <a:ext cx="3017520" cy="3017520"/>
          </a:xfrm>
          <a:prstGeom prst="ellipse">
            <a:avLst/>
          </a:prstGeom>
          <a:solidFill>
            <a:srgbClr val="F1F7E8"/>
          </a:solidFill>
          <a:ln w="25400">
            <a:solidFill>
              <a:srgbClr val="8BC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15400" y="3657600"/>
            <a:ext cx="1737360" cy="50292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2000" b="1">
                <a:solidFill>
                  <a:srgbClr val="8BC53F"/>
                </a:solidFill>
                <a:latin typeface="Arial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743200"/>
            <a:ext cx="2103120" cy="32004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000" b="1">
                <a:solidFill>
                  <a:srgbClr val="202528"/>
                </a:solidFill>
                <a:latin typeface="Arial"/>
              </a:rPr>
              <a:t>ENTANGLEMENT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983480"/>
            <a:ext cx="5394960" cy="384048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400" b="1">
                <a:solidFill>
                  <a:srgbClr val="202528"/>
                </a:solidFill>
                <a:latin typeface="Arial"/>
              </a:rPr>
              <a:t>Hilary Putnam · The Entanglement of Fact and Value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5623560"/>
            <a:ext cx="10835640" cy="566928"/>
          </a:xfrm>
          <a:prstGeom prst="roundRect">
            <a:avLst/>
          </a:prstGeom>
          <a:solidFill>
            <a:srgbClr val="0B7D80"/>
          </a:solidFill>
          <a:ln>
            <a:solidFill>
              <a:srgbClr val="0B7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678424"/>
            <a:ext cx="10469880" cy="438912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What would make these achievements worth celebrating?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365760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850" b="1">
                <a:solidFill>
                  <a:srgbClr val="8BC53F"/>
                </a:solidFill>
                <a:latin typeface="Arial"/>
              </a:rPr>
              <a:t>ECONOMICS &amp; MEASUREMENT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182880"/>
            <a:ext cx="64008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r"/>
            <a:r>
              <a:rPr sz="850" b="1">
                <a:solidFill>
                  <a:srgbClr val="6D7478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972800" cy="56692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202528"/>
                </a:solidFill>
                <a:latin typeface="Arial"/>
              </a:rPr>
              <a:t>Social science explains how societies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54864"/>
          </a:xfrm>
          <a:prstGeom prst="rect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874519"/>
            <a:ext cx="3337560" cy="29718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96112" y="2002536"/>
            <a:ext cx="530352" cy="118872"/>
          </a:xfrm>
          <a:prstGeom prst="rect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6112" y="2304287"/>
            <a:ext cx="420624" cy="420624"/>
          </a:xfrm>
          <a:prstGeom prst="ellipse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13432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276856"/>
            <a:ext cx="24597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770632"/>
            <a:ext cx="3008376" cy="196596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500" b="0">
                <a:solidFill>
                  <a:srgbClr val="6D7478"/>
                </a:solidFill>
                <a:latin typeface="Arial"/>
              </a:rPr>
              <a:t>Economics investigates production, wages, investment, and employment.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874519"/>
            <a:ext cx="3337560" cy="29718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45151" y="2002536"/>
            <a:ext cx="530352" cy="118872"/>
          </a:xfrm>
          <a:prstGeom prst="rect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45151" y="2304287"/>
            <a:ext cx="420624" cy="420624"/>
          </a:xfrm>
          <a:prstGeom prst="ellipse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1" y="2313432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3792" y="2276856"/>
            <a:ext cx="2459735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1" y="2770632"/>
            <a:ext cx="3008376" cy="196596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500" b="0">
                <a:solidFill>
                  <a:srgbClr val="6D7478"/>
                </a:solidFill>
                <a:latin typeface="Arial"/>
              </a:rPr>
              <a:t>Political science investigates power, cooperation, conflict, and institutional survival.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1874519"/>
            <a:ext cx="3337560" cy="29718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94192" y="2002536"/>
            <a:ext cx="530352" cy="118872"/>
          </a:xfrm>
          <a:prstGeom prst="rect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94192" y="2304287"/>
            <a:ext cx="420624" cy="420624"/>
          </a:xfrm>
          <a:prstGeom prst="ellipse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94192" y="2313432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42832" y="2276856"/>
            <a:ext cx="24597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2770632"/>
            <a:ext cx="3008376" cy="196596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500" b="0">
                <a:solidFill>
                  <a:srgbClr val="6D7478"/>
                </a:solidFill>
                <a:latin typeface="Arial"/>
              </a:rPr>
              <a:t>History investigates how people and institutions changed.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532120"/>
            <a:ext cx="10835640" cy="566928"/>
          </a:xfrm>
          <a:prstGeom prst="roundRect">
            <a:avLst/>
          </a:prstGeom>
          <a:solidFill>
            <a:srgbClr val="0B7D80"/>
          </a:solidFill>
          <a:ln>
            <a:solidFill>
              <a:srgbClr val="0B7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586983"/>
            <a:ext cx="10469880" cy="438912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We also want to understand whether those changes improved human life.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365760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850" b="1">
                <a:solidFill>
                  <a:srgbClr val="8BC53F"/>
                </a:solidFill>
                <a:latin typeface="Arial"/>
              </a:rPr>
              <a:t>ECONOMICS &amp; MEASUREMENT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182880"/>
            <a:ext cx="64008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r"/>
            <a:r>
              <a:rPr sz="850" b="1">
                <a:solidFill>
                  <a:srgbClr val="6D7478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972800" cy="56692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202528"/>
                </a:solidFill>
                <a:latin typeface="Arial"/>
              </a:rPr>
              <a:t>An economy grows. Are people better off?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54864"/>
          </a:xfrm>
          <a:prstGeom prst="rect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2834640" cy="114300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5200" b="1">
                <a:solidFill>
                  <a:srgbClr val="8BC53F"/>
                </a:solidFill>
                <a:latin typeface="Arial"/>
              </a:rPr>
              <a:t>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70048"/>
            <a:ext cx="2468880" cy="32004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202528"/>
                </a:solidFill>
                <a:latin typeface="Arial"/>
              </a:rPr>
              <a:t>OUTPUT GROWTH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1444752"/>
            <a:ext cx="6766560" cy="9144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25112" y="1572768"/>
            <a:ext cx="530352" cy="118872"/>
          </a:xfrm>
          <a:prstGeom prst="rect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325112" y="1755648"/>
            <a:ext cx="347472" cy="347472"/>
          </a:xfrm>
          <a:prstGeom prst="ellipse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25112" y="1764792"/>
            <a:ext cx="347472" cy="29260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82312" y="1609344"/>
            <a:ext cx="1828800" cy="219456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950" b="1">
                <a:solidFill>
                  <a:srgbClr val="202528"/>
                </a:solidFill>
                <a:latin typeface="Arial"/>
              </a:rPr>
              <a:t>CONDITION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1856232"/>
            <a:ext cx="5980176" cy="438912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150" b="0">
                <a:solidFill>
                  <a:srgbClr val="6D7478"/>
                </a:solidFill>
                <a:latin typeface="Arial"/>
              </a:rPr>
              <a:t>Median purchasing power remains unchanged.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2587752"/>
            <a:ext cx="6766560" cy="9144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25112" y="2715768"/>
            <a:ext cx="530352" cy="118872"/>
          </a:xfrm>
          <a:prstGeom prst="rect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325112" y="2898648"/>
            <a:ext cx="347472" cy="347472"/>
          </a:xfrm>
          <a:prstGeom prst="ellipse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25112" y="2907792"/>
            <a:ext cx="347472" cy="29260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82312" y="2752344"/>
            <a:ext cx="1828800" cy="219456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950" b="1">
                <a:solidFill>
                  <a:srgbClr val="202528"/>
                </a:solidFill>
                <a:latin typeface="Arial"/>
              </a:rPr>
              <a:t>CONDITION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82312" y="2999232"/>
            <a:ext cx="5980176" cy="438912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150" b="0">
                <a:solidFill>
                  <a:srgbClr val="6D7478"/>
                </a:solidFill>
                <a:latin typeface="Arial"/>
              </a:rPr>
              <a:t>Working hours increase.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60520" y="3730752"/>
            <a:ext cx="6766560" cy="9144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25112" y="3858768"/>
            <a:ext cx="530352" cy="118872"/>
          </a:xfrm>
          <a:prstGeom prst="rect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325112" y="4041648"/>
            <a:ext cx="347472" cy="347472"/>
          </a:xfrm>
          <a:prstGeom prst="ellipse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25112" y="4050791"/>
            <a:ext cx="347472" cy="29260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82312" y="3895344"/>
            <a:ext cx="1828800" cy="219456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950" b="1">
                <a:solidFill>
                  <a:srgbClr val="202528"/>
                </a:solidFill>
                <a:latin typeface="Arial"/>
              </a:rPr>
              <a:t>CONDITION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82312" y="4142232"/>
            <a:ext cx="5980176" cy="438912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150" b="0">
                <a:solidFill>
                  <a:srgbClr val="6D7478"/>
                </a:solidFill>
                <a:latin typeface="Arial"/>
              </a:rPr>
              <a:t>Preventable illness becomes more common.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5029200"/>
            <a:ext cx="10058400" cy="36576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300" b="0">
                <a:solidFill>
                  <a:srgbClr val="6D7478"/>
                </a:solidFill>
                <a:latin typeface="Arial"/>
              </a:rPr>
              <a:t>Imagine a country where: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5532120"/>
            <a:ext cx="10835640" cy="566928"/>
          </a:xfrm>
          <a:prstGeom prst="roundRect">
            <a:avLst/>
          </a:prstGeom>
          <a:solidFill>
            <a:srgbClr val="0B7D80"/>
          </a:solidFill>
          <a:ln>
            <a:solidFill>
              <a:srgbClr val="0B7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586983"/>
            <a:ext cx="10469880" cy="438912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Has this country made progress?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365760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850" b="1">
                <a:solidFill>
                  <a:srgbClr val="8BC53F"/>
                </a:solidFill>
                <a:latin typeface="Arial"/>
              </a:rPr>
              <a:t>ECONOMICS &amp; MEASUREMENT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182880"/>
            <a:ext cx="64008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r"/>
            <a:r>
              <a:rPr sz="850" b="1">
                <a:solidFill>
                  <a:srgbClr val="6D7478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972800" cy="56692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202528"/>
                </a:solidFill>
                <a:latin typeface="Arial"/>
              </a:rPr>
              <a:t>“Progress” requires a standard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54864"/>
          </a:xfrm>
          <a:prstGeom prst="rect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261872"/>
            <a:ext cx="10515600" cy="41148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400" b="0">
                <a:solidFill>
                  <a:srgbClr val="6D7478"/>
                </a:solidFill>
                <a:latin typeface="Arial"/>
              </a:rPr>
              <a:t>Different standards bring different features into view: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5166360" cy="13716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77824" y="1911095"/>
            <a:ext cx="530352" cy="118872"/>
          </a:xfrm>
          <a:prstGeom prst="rect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2212848"/>
            <a:ext cx="420624" cy="420624"/>
          </a:xfrm>
          <a:prstGeom prst="ellipse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221991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2185416"/>
            <a:ext cx="42885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679191"/>
            <a:ext cx="4837176" cy="36575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6D7478"/>
                </a:solidFill>
                <a:latin typeface="Arial"/>
              </a:rPr>
              <a:t>Production: How much does the economy produce?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2784" y="1783080"/>
            <a:ext cx="5166360" cy="13716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7376" y="1911095"/>
            <a:ext cx="530352" cy="118872"/>
          </a:xfrm>
          <a:prstGeom prst="rect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7376" y="2212848"/>
            <a:ext cx="420624" cy="420624"/>
          </a:xfrm>
          <a:prstGeom prst="ellipse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2221991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016" y="2185416"/>
            <a:ext cx="42885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2679191"/>
            <a:ext cx="4837176" cy="36575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6D7478"/>
                </a:solidFill>
                <a:latin typeface="Arial"/>
              </a:rPr>
              <a:t>Living standards: What can ordinary households afford?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474720"/>
            <a:ext cx="5166360" cy="13716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4" y="3602736"/>
            <a:ext cx="530352" cy="118872"/>
          </a:xfrm>
          <a:prstGeom prst="rect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7824" y="3904487"/>
            <a:ext cx="420624" cy="420624"/>
          </a:xfrm>
          <a:prstGeom prst="ellipse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3913631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6464" y="3877056"/>
            <a:ext cx="42885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4370831"/>
            <a:ext cx="4837176" cy="36575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6D7478"/>
                </a:solidFill>
                <a:latin typeface="Arial"/>
              </a:rPr>
              <a:t>Well-being: How healthy, secure, and fulfilled are people?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72784" y="3474720"/>
            <a:ext cx="5166360" cy="13716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37376" y="3602736"/>
            <a:ext cx="530352" cy="118872"/>
          </a:xfrm>
          <a:prstGeom prst="rect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7376" y="3904487"/>
            <a:ext cx="420624" cy="420624"/>
          </a:xfrm>
          <a:prstGeom prst="ellipse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3913631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6016" y="3877056"/>
            <a:ext cx="42885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37376" y="4370831"/>
            <a:ext cx="4837176" cy="36575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6D7478"/>
                </a:solidFill>
                <a:latin typeface="Arial"/>
              </a:rPr>
              <a:t>Freedom: What meaningful choices can people make?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074920"/>
            <a:ext cx="10058400" cy="36576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300" b="0">
                <a:solidFill>
                  <a:srgbClr val="6D7478"/>
                </a:solidFill>
                <a:latin typeface="Arial"/>
              </a:rPr>
              <a:t>Agreeing on the measurements does not settle which standard best captures progress.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365760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850" b="1">
                <a:solidFill>
                  <a:srgbClr val="8BC53F"/>
                </a:solidFill>
                <a:latin typeface="Arial"/>
              </a:rPr>
              <a:t>ECONOMICS &amp; MEASUREMENT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182880"/>
            <a:ext cx="64008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r"/>
            <a:r>
              <a:rPr sz="850" b="1">
                <a:solidFill>
                  <a:srgbClr val="6D7478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972800" cy="56692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202528"/>
                </a:solidFill>
                <a:latin typeface="Arial"/>
              </a:rPr>
              <a:t>A useful distinction can become a sweeping claim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54864"/>
          </a:xfrm>
          <a:prstGeom prst="rect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5074920" cy="333756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1832" y="1728216"/>
            <a:ext cx="530352" cy="118872"/>
          </a:xfrm>
          <a:prstGeom prst="rect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2029967"/>
            <a:ext cx="420624" cy="420624"/>
          </a:xfrm>
          <a:prstGeom prst="ellipse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039112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0472" y="2002536"/>
            <a:ext cx="419709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DESCRIPTION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496312"/>
            <a:ext cx="4745736" cy="233172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700" b="0">
                <a:solidFill>
                  <a:srgbClr val="6D7478"/>
                </a:solidFill>
                <a:latin typeface="Arial"/>
              </a:rPr>
              <a:t>Descriptive claims: “Average working hours increased.”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600200"/>
            <a:ext cx="5074920" cy="333756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73951" y="1728216"/>
            <a:ext cx="530352" cy="118872"/>
          </a:xfrm>
          <a:prstGeom prst="rect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3951" y="2029967"/>
            <a:ext cx="420624" cy="420624"/>
          </a:xfrm>
          <a:prstGeom prst="ellipse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1" y="2039112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22592" y="2002536"/>
            <a:ext cx="419709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EVALUATION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1" y="2496312"/>
            <a:ext cx="4745736" cy="233172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700" b="0">
                <a:solidFill>
                  <a:srgbClr val="6D7478"/>
                </a:solidFill>
                <a:latin typeface="Arial"/>
              </a:rPr>
              <a:t>Evaluative claims: “These working conditions are unacceptable.”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074920"/>
            <a:ext cx="10058400" cy="384048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300" b="0">
                <a:solidFill>
                  <a:srgbClr val="6D7478"/>
                </a:solidFill>
                <a:latin typeface="Arial"/>
              </a:rPr>
              <a:t>Putnam challenges this stronger position. Merely distinguishing description from evaluation does not establish it. Putnam’s book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532120"/>
            <a:ext cx="10835640" cy="566928"/>
          </a:xfrm>
          <a:prstGeom prst="roundRect">
            <a:avLst/>
          </a:prstGeom>
          <a:solidFill>
            <a:srgbClr val="0B7D80"/>
          </a:solidFill>
          <a:ln>
            <a:solidFill>
              <a:srgbClr val="0B7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586983"/>
            <a:ext cx="10469880" cy="438912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Descriptions can be objectively justified; evaluations ultimately express preferences.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92240"/>
            <a:ext cx="9144000" cy="146304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700" b="0">
                <a:solidFill>
                  <a:srgbClr val="6D7478"/>
                </a:solidFill>
                <a:latin typeface="Arial"/>
              </a:rPr>
              <a:t>Sources: jstor.org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365760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850" b="1">
                <a:solidFill>
                  <a:srgbClr val="8BC53F"/>
                </a:solidFill>
                <a:latin typeface="Arial"/>
              </a:rPr>
              <a:t>ECONOMICS &amp; MEASUREMENT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182880"/>
            <a:ext cx="64008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r"/>
            <a:r>
              <a:rPr sz="850" b="1">
                <a:solidFill>
                  <a:srgbClr val="6D7478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972800" cy="56692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202528"/>
                </a:solidFill>
                <a:latin typeface="Arial"/>
              </a:rPr>
              <a:t>Equal income can conceal unequal opportunities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54864"/>
          </a:xfrm>
          <a:prstGeom prst="rect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5074920" cy="333756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1832" y="1728216"/>
            <a:ext cx="530352" cy="118872"/>
          </a:xfrm>
          <a:prstGeom prst="rect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2029967"/>
            <a:ext cx="420624" cy="420624"/>
          </a:xfrm>
          <a:prstGeom prst="ellipse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039112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0472" y="2002536"/>
            <a:ext cx="419709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SIDE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496312"/>
            <a:ext cx="4745736" cy="233172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700" b="0">
                <a:solidFill>
                  <a:srgbClr val="6D7478"/>
                </a:solidFill>
                <a:latin typeface="Arial"/>
              </a:rPr>
              <a:t>One can travel and work without additional assistance.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600200"/>
            <a:ext cx="5074920" cy="333756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73951" y="1728216"/>
            <a:ext cx="530352" cy="118872"/>
          </a:xfrm>
          <a:prstGeom prst="rect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3951" y="2029967"/>
            <a:ext cx="420624" cy="420624"/>
          </a:xfrm>
          <a:prstGeom prst="ellipse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1" y="2039112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22592" y="2002536"/>
            <a:ext cx="419709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SIDE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1" y="2496312"/>
            <a:ext cx="4745736" cy="233172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700" b="0">
                <a:solidFill>
                  <a:srgbClr val="6D7478"/>
                </a:solidFill>
                <a:latin typeface="Arial"/>
              </a:rPr>
              <a:t>The other needs expensive mobility support and faces inaccessible transport.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074920"/>
            <a:ext cx="10058400" cy="384048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300" b="0">
                <a:solidFill>
                  <a:srgbClr val="6D7478"/>
                </a:solidFill>
                <a:latin typeface="Arial"/>
              </a:rPr>
              <a:t>Their purchasing power is equal, but their practical opportunities differ.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532120"/>
            <a:ext cx="10835640" cy="566928"/>
          </a:xfrm>
          <a:prstGeom prst="roundRect">
            <a:avLst/>
          </a:prstGeom>
          <a:solidFill>
            <a:srgbClr val="0B7D80"/>
          </a:solidFill>
          <a:ln>
            <a:solidFill>
              <a:srgbClr val="0B7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586983"/>
            <a:ext cx="10469880" cy="438912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What would an adequate comparison of their circumstances measure?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92240"/>
            <a:ext cx="9144000" cy="146304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700" b="0">
                <a:solidFill>
                  <a:srgbClr val="6D7478"/>
                </a:solidFill>
                <a:latin typeface="Arial"/>
              </a:rPr>
              <a:t>Sources: tannerlectures.org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365760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850" b="1">
                <a:solidFill>
                  <a:srgbClr val="8BC53F"/>
                </a:solidFill>
                <a:latin typeface="Arial"/>
              </a:rPr>
              <a:t>ECONOMICS &amp; MEASUREMENT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182880"/>
            <a:ext cx="64008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r"/>
            <a:r>
              <a:rPr sz="850" b="1">
                <a:solidFill>
                  <a:srgbClr val="6D7478"/>
                </a:solidFill>
                <a:latin typeface="Arial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972800" cy="56692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202528"/>
                </a:solidFill>
                <a:latin typeface="Arial"/>
              </a:rPr>
              <a:t>A better question can reveal overlooked facts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54864"/>
          </a:xfrm>
          <a:prstGeom prst="rect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280160" y="1828800"/>
            <a:ext cx="1234440" cy="1234440"/>
          </a:xfrm>
          <a:prstGeom prst="ellipse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81328" y="2112264"/>
            <a:ext cx="822960" cy="50292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37560"/>
            <a:ext cx="3566160" cy="146304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400" b="0">
                <a:solidFill>
                  <a:srgbClr val="6D7478"/>
                </a:solidFill>
                <a:latin typeface="Arial"/>
              </a:rPr>
              <a:t>Mobility and accessibility.</a:t>
            </a:r>
          </a:p>
        </p:txBody>
      </p:sp>
      <p:sp>
        <p:nvSpPr>
          <p:cNvPr id="9" name="Oval 8"/>
          <p:cNvSpPr/>
          <p:nvPr/>
        </p:nvSpPr>
        <p:spPr>
          <a:xfrm>
            <a:off x="4937760" y="1828800"/>
            <a:ext cx="1234440" cy="1234440"/>
          </a:xfrm>
          <a:prstGeom prst="ellipse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38928" y="2112264"/>
            <a:ext cx="822960" cy="50292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337560"/>
            <a:ext cx="3566160" cy="146304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400" b="0">
                <a:solidFill>
                  <a:srgbClr val="6D7478"/>
                </a:solidFill>
                <a:latin typeface="Arial"/>
              </a:rPr>
              <a:t>Nutrition and shelter.</a:t>
            </a:r>
          </a:p>
        </p:txBody>
      </p:sp>
      <p:sp>
        <p:nvSpPr>
          <p:cNvPr id="12" name="Oval 11"/>
          <p:cNvSpPr/>
          <p:nvPr/>
        </p:nvSpPr>
        <p:spPr>
          <a:xfrm>
            <a:off x="8595360" y="1828800"/>
            <a:ext cx="1234440" cy="1234440"/>
          </a:xfrm>
          <a:prstGeom prst="ellipse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96528" y="2112264"/>
            <a:ext cx="822960" cy="50292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3337560"/>
            <a:ext cx="3566160" cy="146304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400" b="0">
                <a:solidFill>
                  <a:srgbClr val="6D7478"/>
                </a:solidFill>
                <a:latin typeface="Arial"/>
              </a:rPr>
              <a:t>Participation in community life.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298448"/>
            <a:ext cx="10332720" cy="384048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400" b="0">
                <a:solidFill>
                  <a:srgbClr val="6D7478"/>
                </a:solidFill>
                <a:latin typeface="Arial"/>
              </a:rPr>
              <a:t>Amartya Sen proposes examining people’s capabilities: their actual opportunities to do and be things they have reason to value.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92240"/>
            <a:ext cx="9144000" cy="146304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700" b="0">
                <a:solidFill>
                  <a:srgbClr val="6D7478"/>
                </a:solidFill>
                <a:latin typeface="Arial"/>
              </a:rPr>
              <a:t>Sources: tannerlectures.org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365760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850" b="1">
                <a:solidFill>
                  <a:srgbClr val="8BC53F"/>
                </a:solidFill>
                <a:latin typeface="Arial"/>
              </a:rPr>
              <a:t>ECONOMICS &amp; MEASUREMENT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182880"/>
            <a:ext cx="64008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r"/>
            <a:r>
              <a:rPr sz="850" b="1">
                <a:solidFill>
                  <a:srgbClr val="6D7478"/>
                </a:solidFill>
                <a:latin typeface="Arial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972800" cy="56692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202528"/>
                </a:solidFill>
                <a:latin typeface="Arial"/>
              </a:rPr>
              <a:t>Satisfaction can be an incomplete measure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54864"/>
          </a:xfrm>
          <a:prstGeom prst="rect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280160" y="1828800"/>
            <a:ext cx="1234440" cy="1234440"/>
          </a:xfrm>
          <a:prstGeom prst="ellipse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81328" y="2112264"/>
            <a:ext cx="822960" cy="50292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37560"/>
            <a:ext cx="3566160" cy="146304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400" b="0">
                <a:solidFill>
                  <a:srgbClr val="6D7478"/>
                </a:solidFill>
                <a:latin typeface="Arial"/>
              </a:rPr>
              <a:t>Reported satisfaction tells us something important.</a:t>
            </a:r>
          </a:p>
        </p:txBody>
      </p:sp>
      <p:sp>
        <p:nvSpPr>
          <p:cNvPr id="9" name="Oval 8"/>
          <p:cNvSpPr/>
          <p:nvPr/>
        </p:nvSpPr>
        <p:spPr>
          <a:xfrm>
            <a:off x="4937760" y="1828800"/>
            <a:ext cx="1234440" cy="1234440"/>
          </a:xfrm>
          <a:prstGeom prst="ellipse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38928" y="2112264"/>
            <a:ext cx="822960" cy="50292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337560"/>
            <a:ext cx="3566160" cy="146304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400" b="0">
                <a:solidFill>
                  <a:srgbClr val="6D7478"/>
                </a:solidFill>
                <a:latin typeface="Arial"/>
              </a:rPr>
              <a:t>It can coexist with restricted opportunities.</a:t>
            </a:r>
          </a:p>
        </p:txBody>
      </p:sp>
      <p:sp>
        <p:nvSpPr>
          <p:cNvPr id="12" name="Oval 11"/>
          <p:cNvSpPr/>
          <p:nvPr/>
        </p:nvSpPr>
        <p:spPr>
          <a:xfrm>
            <a:off x="8595360" y="1828800"/>
            <a:ext cx="1234440" cy="1234440"/>
          </a:xfrm>
          <a:prstGeom prst="ellipse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96528" y="2112264"/>
            <a:ext cx="822960" cy="50292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3337560"/>
            <a:ext cx="3566160" cy="146304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400" b="0">
                <a:solidFill>
                  <a:srgbClr val="6D7478"/>
                </a:solidFill>
                <a:latin typeface="Arial"/>
              </a:rPr>
              <a:t>Deciding whether it adequately measures well-being requires further judgment.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298448"/>
            <a:ext cx="10332720" cy="384048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400" b="0">
                <a:solidFill>
                  <a:srgbClr val="6D7478"/>
                </a:solidFill>
                <a:latin typeface="Arial"/>
              </a:rPr>
              <a:t>People can adapt to difficult circumstances and lower their expectations.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532120"/>
            <a:ext cx="10835640" cy="566928"/>
          </a:xfrm>
          <a:prstGeom prst="roundRect">
            <a:avLst/>
          </a:prstGeom>
          <a:solidFill>
            <a:srgbClr val="0B7D80"/>
          </a:solidFill>
          <a:ln>
            <a:solidFill>
              <a:srgbClr val="0B7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586983"/>
            <a:ext cx="10469880" cy="438912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Does becoming accustomed to deprivation make deprivation disappear?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9144000" cy="146304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700" b="0">
                <a:solidFill>
                  <a:srgbClr val="6D7478"/>
                </a:solidFill>
                <a:latin typeface="Arial"/>
              </a:rPr>
              <a:t>Sources: tannerlectures.org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365760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850" b="1">
                <a:solidFill>
                  <a:srgbClr val="8BC53F"/>
                </a:solidFill>
                <a:latin typeface="Arial"/>
              </a:rPr>
              <a:t>ECONOMICS &amp; MEASUREMENT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182880"/>
            <a:ext cx="64008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r"/>
            <a:r>
              <a:rPr sz="850" b="1">
                <a:solidFill>
                  <a:srgbClr val="6D7478"/>
                </a:solidFill>
                <a:latin typeface="Arial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972800" cy="56692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202528"/>
                </a:solidFill>
                <a:latin typeface="Arial"/>
              </a:rPr>
              <a:t>A deeply unequal allocation can be efficient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54864"/>
          </a:xfrm>
          <a:prstGeom prst="rect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828800" cy="9144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4200" b="1">
                <a:solidFill>
                  <a:srgbClr val="0B7D80"/>
                </a:solidFill>
                <a:latin typeface="Arial"/>
              </a:rPr>
              <a:t>99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55480" y="1554480"/>
            <a:ext cx="1280160" cy="9144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r"/>
            <a:r>
              <a:rPr sz="4200" b="1">
                <a:solidFill>
                  <a:srgbClr val="F2933A"/>
                </a:solidFill>
                <a:latin typeface="Arial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514600"/>
            <a:ext cx="9921240" cy="566928"/>
          </a:xfrm>
          <a:prstGeom prst="rect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835640" y="2514600"/>
            <a:ext cx="100584" cy="566928"/>
          </a:xfrm>
          <a:prstGeom prst="rect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3429000"/>
            <a:ext cx="3383280" cy="141732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1832" y="3557016"/>
            <a:ext cx="530352" cy="118872"/>
          </a:xfrm>
          <a:prstGeom prst="rect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3858768"/>
            <a:ext cx="420624" cy="420624"/>
          </a:xfrm>
          <a:prstGeom prst="ellipse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867912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0472" y="3831336"/>
            <a:ext cx="250545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ASSUMPTION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4325112"/>
            <a:ext cx="3054096" cy="41147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6D7478"/>
                </a:solidFill>
                <a:latin typeface="Arial"/>
              </a:rPr>
              <a:t>The supply is fixed.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44568" y="3429000"/>
            <a:ext cx="3383280" cy="141732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09159" y="3557016"/>
            <a:ext cx="530352" cy="118872"/>
          </a:xfrm>
          <a:prstGeom prst="rect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709159" y="3858768"/>
            <a:ext cx="420624" cy="420624"/>
          </a:xfrm>
          <a:prstGeom prst="ellipse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9159" y="3867912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831336"/>
            <a:ext cx="250545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ASSUMPTION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59" y="4325112"/>
            <a:ext cx="3054096" cy="41147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6D7478"/>
                </a:solidFill>
                <a:latin typeface="Arial"/>
              </a:rPr>
              <a:t>Each person prefers having more.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11896" y="3429000"/>
            <a:ext cx="3383280" cy="141732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476488" y="3557016"/>
            <a:ext cx="530352" cy="118872"/>
          </a:xfrm>
          <a:prstGeom prst="rect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76488" y="3858768"/>
            <a:ext cx="420624" cy="420624"/>
          </a:xfrm>
          <a:prstGeom prst="ellipse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76488" y="3867912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3831336"/>
            <a:ext cx="250545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ASSUMPTION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6488" y="4325112"/>
            <a:ext cx="3054096" cy="41147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300" b="0">
                <a:solidFill>
                  <a:srgbClr val="6D7478"/>
                </a:solidFill>
                <a:latin typeface="Arial"/>
              </a:rPr>
              <a:t>Neither cares about the other’s allocation.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5029200"/>
            <a:ext cx="10058400" cy="36576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300" b="0">
                <a:solidFill>
                  <a:srgbClr val="6D7478"/>
                </a:solidFill>
                <a:latin typeface="Arial"/>
              </a:rPr>
              <a:t>Helping either person requires taking something from the other.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365760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850" b="1">
                <a:solidFill>
                  <a:srgbClr val="8BC53F"/>
                </a:solidFill>
                <a:latin typeface="Arial"/>
              </a:rPr>
              <a:t>ECONOMICS &amp; MEASUREMENT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182880"/>
            <a:ext cx="64008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r"/>
            <a:r>
              <a:rPr sz="850" b="1">
                <a:solidFill>
                  <a:srgbClr val="6D7478"/>
                </a:solidFill>
                <a:latin typeface="Arial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972800" cy="56692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202528"/>
                </a:solidFill>
                <a:latin typeface="Arial"/>
              </a:rPr>
              <a:t>Efficiency answers a limited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54864"/>
          </a:xfrm>
          <a:prstGeom prst="rect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554480"/>
            <a:ext cx="4983480" cy="329184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87552" y="1682495"/>
            <a:ext cx="530352" cy="118872"/>
          </a:xfrm>
          <a:prstGeom prst="rect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7552" y="1984248"/>
            <a:ext cx="420624" cy="420624"/>
          </a:xfrm>
          <a:prstGeom prst="ellipse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1993391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36192" y="1956816"/>
            <a:ext cx="410565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99 /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450591"/>
            <a:ext cx="4654296" cy="22860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700" b="0">
                <a:solidFill>
                  <a:srgbClr val="6D7478"/>
                </a:solidFill>
                <a:latin typeface="Arial"/>
              </a:rPr>
              <a:t>Pareto efficient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25880" y="2880360"/>
            <a:ext cx="3847337" cy="411480"/>
          </a:xfrm>
          <a:prstGeom prst="rect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73218" y="2880360"/>
            <a:ext cx="38862" cy="411480"/>
          </a:xfrm>
          <a:prstGeom prst="rect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09360" y="1554480"/>
            <a:ext cx="4983480" cy="329184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73952" y="1682495"/>
            <a:ext cx="530352" cy="118872"/>
          </a:xfrm>
          <a:prstGeom prst="rect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73952" y="1984248"/>
            <a:ext cx="420624" cy="420624"/>
          </a:xfrm>
          <a:prstGeom prst="ellipse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1993391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2592" y="1956816"/>
            <a:ext cx="410565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50 / 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2450591"/>
            <a:ext cx="4654296" cy="22860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700" b="0">
                <a:solidFill>
                  <a:srgbClr val="6D7478"/>
                </a:solidFill>
                <a:latin typeface="Arial"/>
              </a:rPr>
              <a:t>Pareto efficient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12280" y="2880360"/>
            <a:ext cx="1943100" cy="411480"/>
          </a:xfrm>
          <a:prstGeom prst="rect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5380" y="2880360"/>
            <a:ext cx="1943100" cy="411480"/>
          </a:xfrm>
          <a:prstGeom prst="rect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5029200"/>
            <a:ext cx="10058400" cy="36576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300" b="0">
                <a:solidFill>
                  <a:srgbClr val="6D7478"/>
                </a:solidFill>
                <a:latin typeface="Arial"/>
              </a:rPr>
              <a:t>The criterion does not tell us which distribution is fair.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532120"/>
            <a:ext cx="10835640" cy="566928"/>
          </a:xfrm>
          <a:prstGeom prst="roundRect">
            <a:avLst/>
          </a:prstGeom>
          <a:solidFill>
            <a:srgbClr val="0B7D80"/>
          </a:solidFill>
          <a:ln>
            <a:solidFill>
              <a:srgbClr val="0B7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586983"/>
            <a:ext cx="10469880" cy="438912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Mathematical precision does not make a criterion morally sufficient.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365760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850" b="1">
                <a:solidFill>
                  <a:srgbClr val="55B8CF"/>
                </a:solidFill>
                <a:latin typeface="Arial"/>
              </a:rPr>
              <a:t>POLITICS, HISTORY &amp;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182880"/>
            <a:ext cx="64008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r"/>
            <a:r>
              <a:rPr sz="850" b="1">
                <a:solidFill>
                  <a:srgbClr val="6D7478"/>
                </a:solidFill>
                <a:latin typeface="Arial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972800" cy="56692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202528"/>
                </a:solidFill>
                <a:latin typeface="Arial"/>
              </a:rPr>
              <a:t>Can we criticize our measures of success?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54864"/>
          </a:xfrm>
          <a:prstGeom prst="rect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261872"/>
            <a:ext cx="10515600" cy="41148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400" b="0">
                <a:solidFill>
                  <a:srgbClr val="6D7478"/>
                </a:solidFill>
                <a:latin typeface="Arial"/>
              </a:rPr>
              <a:t>Suppose a welfare measure systematically overlooks serious, avoidable suffering.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3337560" cy="29718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6112" y="2002536"/>
            <a:ext cx="530352" cy="118872"/>
          </a:xfrm>
          <a:prstGeom prst="rect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96112" y="2304287"/>
            <a:ext cx="420624" cy="420624"/>
          </a:xfrm>
          <a:prstGeom prst="ellipse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313432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2276856"/>
            <a:ext cx="24597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770632"/>
            <a:ext cx="3008376" cy="196596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500" b="0">
                <a:solidFill>
                  <a:srgbClr val="6D7478"/>
                </a:solidFill>
                <a:latin typeface="Arial"/>
              </a:rPr>
              <a:t>It may omit conditions central to people’s lives.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1874519"/>
            <a:ext cx="3337560" cy="29718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45151" y="2002536"/>
            <a:ext cx="530352" cy="118872"/>
          </a:xfrm>
          <a:prstGeom prst="rect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45151" y="2304287"/>
            <a:ext cx="420624" cy="420624"/>
          </a:xfrm>
          <a:prstGeom prst="ellipse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1" y="2313432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2276856"/>
            <a:ext cx="2459735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5151" y="2770632"/>
            <a:ext cx="3008376" cy="196596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500" b="0">
                <a:solidFill>
                  <a:srgbClr val="6D7478"/>
                </a:solidFill>
                <a:latin typeface="Arial"/>
              </a:rPr>
              <a:t>It may treat relevantly different circumstances as equivalent.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1874519"/>
            <a:ext cx="3337560" cy="29718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94192" y="2002536"/>
            <a:ext cx="530352" cy="118872"/>
          </a:xfrm>
          <a:prstGeom prst="rect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94192" y="2304287"/>
            <a:ext cx="420624" cy="420624"/>
          </a:xfrm>
          <a:prstGeom prst="ellipse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2313432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42832" y="2276856"/>
            <a:ext cx="24597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770632"/>
            <a:ext cx="3008376" cy="196596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500" b="0">
                <a:solidFill>
                  <a:srgbClr val="6D7478"/>
                </a:solidFill>
                <a:latin typeface="Arial"/>
              </a:rPr>
              <a:t>It may reward outcomes that undermine its stated purpose.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532120"/>
            <a:ext cx="10835640" cy="566928"/>
          </a:xfrm>
          <a:prstGeom prst="roundRect">
            <a:avLst/>
          </a:prstGeom>
          <a:solidFill>
            <a:srgbClr val="0B7D80"/>
          </a:solidFill>
          <a:ln>
            <a:solidFill>
              <a:srgbClr val="0B7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586983"/>
            <a:ext cx="10469880" cy="438912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Can we give reasons for changing it?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365760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850" b="1">
                <a:solidFill>
                  <a:srgbClr val="55B8CF"/>
                </a:solidFill>
                <a:latin typeface="Arial"/>
              </a:rPr>
              <a:t>POLITICS, HISTORY &amp;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182880"/>
            <a:ext cx="64008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r"/>
            <a:r>
              <a:rPr sz="850" b="1">
                <a:solidFill>
                  <a:srgbClr val="6D7478"/>
                </a:solidFill>
                <a:latin typeface="Arial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972800" cy="56692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202528"/>
                </a:solidFill>
                <a:latin typeface="Arial"/>
              </a:rPr>
              <a:t>A government can survive through different means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54864"/>
          </a:xfrm>
          <a:prstGeom prst="rect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261872"/>
            <a:ext cx="10515600" cy="41148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400" b="0">
                <a:solidFill>
                  <a:srgbClr val="6D7478"/>
                </a:solidFill>
                <a:latin typeface="Arial"/>
              </a:rPr>
              <a:t>A political model might explain stability through: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5166360" cy="13716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77824" y="1911095"/>
            <a:ext cx="530352" cy="118872"/>
          </a:xfrm>
          <a:prstGeom prst="rect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2212848"/>
            <a:ext cx="420624" cy="420624"/>
          </a:xfrm>
          <a:prstGeom prst="ellipse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221991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2185416"/>
            <a:ext cx="42885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679191"/>
            <a:ext cx="4837176" cy="36575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6D7478"/>
                </a:solidFill>
                <a:latin typeface="Arial"/>
              </a:rPr>
              <a:t>Reliable taxation.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2784" y="1783080"/>
            <a:ext cx="5166360" cy="13716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7376" y="1911095"/>
            <a:ext cx="530352" cy="118872"/>
          </a:xfrm>
          <a:prstGeom prst="rect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7376" y="2212848"/>
            <a:ext cx="420624" cy="420624"/>
          </a:xfrm>
          <a:prstGeom prst="ellipse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2221991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016" y="2185416"/>
            <a:ext cx="42885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2679191"/>
            <a:ext cx="4837176" cy="36575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6D7478"/>
                </a:solidFill>
                <a:latin typeface="Arial"/>
              </a:rPr>
              <a:t>Effective administration.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474720"/>
            <a:ext cx="5166360" cy="13716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4" y="3602736"/>
            <a:ext cx="530352" cy="118872"/>
          </a:xfrm>
          <a:prstGeom prst="rect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7824" y="3904487"/>
            <a:ext cx="420624" cy="420624"/>
          </a:xfrm>
          <a:prstGeom prst="ellipse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3913631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6464" y="3877056"/>
            <a:ext cx="42885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4370831"/>
            <a:ext cx="4837176" cy="36575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6D7478"/>
                </a:solidFill>
                <a:latin typeface="Arial"/>
              </a:rPr>
              <a:t>Cooperation among powerful groups.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72784" y="3474720"/>
            <a:ext cx="5166360" cy="13716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37376" y="3602736"/>
            <a:ext cx="530352" cy="118872"/>
          </a:xfrm>
          <a:prstGeom prst="rect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7376" y="3904487"/>
            <a:ext cx="420624" cy="420624"/>
          </a:xfrm>
          <a:prstGeom prst="ellipse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3913631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6016" y="3877056"/>
            <a:ext cx="42885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37376" y="4370831"/>
            <a:ext cx="4837176" cy="36575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6D7478"/>
                </a:solidFill>
                <a:latin typeface="Arial"/>
              </a:rPr>
              <a:t>Public support—or effective intimidation.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5532120"/>
            <a:ext cx="10835640" cy="566928"/>
          </a:xfrm>
          <a:prstGeom prst="roundRect">
            <a:avLst/>
          </a:prstGeom>
          <a:solidFill>
            <a:srgbClr val="0B7D80"/>
          </a:solidFill>
          <a:ln>
            <a:solidFill>
              <a:srgbClr val="0B7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586983"/>
            <a:ext cx="10469880" cy="438912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Explaining why a government survives leaves open whether its survival is desirable.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365760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850" b="1">
                <a:solidFill>
                  <a:srgbClr val="55B8CF"/>
                </a:solidFill>
                <a:latin typeface="Arial"/>
              </a:rPr>
              <a:t>POLITICS, HISTORY &amp;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182880"/>
            <a:ext cx="64008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r"/>
            <a:r>
              <a:rPr sz="850" b="1">
                <a:solidFill>
                  <a:srgbClr val="6D7478"/>
                </a:solidFill>
                <a:latin typeface="Arial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972800" cy="56692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202528"/>
                </a:solidFill>
                <a:latin typeface="Arial"/>
              </a:rPr>
              <a:t>Public order needs interpretation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54864"/>
          </a:xfrm>
          <a:prstGeom prst="rect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261872"/>
            <a:ext cx="10515600" cy="41148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400" b="0">
                <a:solidFill>
                  <a:srgbClr val="6D7478"/>
                </a:solidFill>
                <a:latin typeface="Arial"/>
              </a:rPr>
              <a:t>Imagine that demonstrations sharply decline.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5166360" cy="13716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77824" y="1911095"/>
            <a:ext cx="530352" cy="118872"/>
          </a:xfrm>
          <a:prstGeom prst="rect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2212848"/>
            <a:ext cx="420624" cy="420624"/>
          </a:xfrm>
          <a:prstGeom prst="ellipse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221991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2185416"/>
            <a:ext cx="42885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679191"/>
            <a:ext cx="4837176" cy="36575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6D7478"/>
                </a:solidFill>
                <a:latin typeface="Arial"/>
              </a:rPr>
              <a:t>Citizens are more satisfied.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2784" y="1783080"/>
            <a:ext cx="5166360" cy="13716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7376" y="1911095"/>
            <a:ext cx="530352" cy="118872"/>
          </a:xfrm>
          <a:prstGeom prst="rect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7376" y="2212848"/>
            <a:ext cx="420624" cy="420624"/>
          </a:xfrm>
          <a:prstGeom prst="ellipse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2221991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016" y="2185416"/>
            <a:ext cx="42885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2679191"/>
            <a:ext cx="4837176" cy="36575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6D7478"/>
                </a:solidFill>
                <a:latin typeface="Arial"/>
              </a:rPr>
              <a:t>Grievances have been addressed.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474720"/>
            <a:ext cx="5166360" cy="13716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4" y="3602736"/>
            <a:ext cx="530352" cy="118872"/>
          </a:xfrm>
          <a:prstGeom prst="rect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7824" y="3904487"/>
            <a:ext cx="420624" cy="420624"/>
          </a:xfrm>
          <a:prstGeom prst="ellipse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3913631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6464" y="3877056"/>
            <a:ext cx="42885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4370831"/>
            <a:ext cx="4837176" cy="36575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6D7478"/>
                </a:solidFill>
                <a:latin typeface="Arial"/>
              </a:rPr>
              <a:t>Organizing has become dangerous.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72784" y="3474720"/>
            <a:ext cx="5166360" cy="13716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37376" y="3602736"/>
            <a:ext cx="530352" cy="118872"/>
          </a:xfrm>
          <a:prstGeom prst="rect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7376" y="3904487"/>
            <a:ext cx="420624" cy="420624"/>
          </a:xfrm>
          <a:prstGeom prst="ellipse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3913631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6016" y="3877056"/>
            <a:ext cx="42885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37376" y="4370831"/>
            <a:ext cx="4837176" cy="36575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6D7478"/>
                </a:solidFill>
                <a:latin typeface="Arial"/>
              </a:rPr>
              <a:t>People believe protest is futile.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074920"/>
            <a:ext cx="10058400" cy="36576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300" b="0">
                <a:solidFill>
                  <a:srgbClr val="6D7478"/>
                </a:solidFill>
                <a:latin typeface="Arial"/>
              </a:rPr>
              <a:t>The same headline statistic can accompany very different political conditions.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532120"/>
            <a:ext cx="10835640" cy="566928"/>
          </a:xfrm>
          <a:prstGeom prst="roundRect">
            <a:avLst/>
          </a:prstGeom>
          <a:solidFill>
            <a:srgbClr val="0B7D80"/>
          </a:solidFill>
          <a:ln>
            <a:solidFill>
              <a:srgbClr val="0B7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586983"/>
            <a:ext cx="10469880" cy="438912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We need to investigate what the silence means.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365760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850" b="1">
                <a:solidFill>
                  <a:srgbClr val="55B8CF"/>
                </a:solidFill>
                <a:latin typeface="Arial"/>
              </a:rPr>
              <a:t>POLITICS, HISTORY &amp;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182880"/>
            <a:ext cx="64008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r"/>
            <a:r>
              <a:rPr sz="850" b="1">
                <a:solidFill>
                  <a:srgbClr val="6D7478"/>
                </a:solidFill>
                <a:latin typeface="Arial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972800" cy="56692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202528"/>
                </a:solidFill>
                <a:latin typeface="Arial"/>
              </a:rPr>
              <a:t>Power, acceptance, and justification differ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54864"/>
          </a:xfrm>
          <a:prstGeom prst="rect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417320"/>
            <a:ext cx="10652760" cy="1060704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1832" y="1545336"/>
            <a:ext cx="530352" cy="118872"/>
          </a:xfrm>
          <a:prstGeom prst="rect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1728216"/>
            <a:ext cx="347472" cy="347472"/>
          </a:xfrm>
          <a:prstGeom prst="ellipse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737360"/>
            <a:ext cx="347472" cy="29260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1581912"/>
            <a:ext cx="1828800" cy="219456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950" b="1">
                <a:solidFill>
                  <a:srgbClr val="202528"/>
                </a:solidFill>
                <a:latin typeface="Arial"/>
              </a:rPr>
              <a:t>POWER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1828800"/>
            <a:ext cx="9866376" cy="585215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150" b="0">
                <a:solidFill>
                  <a:srgbClr val="6D7478"/>
                </a:solidFill>
                <a:latin typeface="Arial"/>
              </a:rPr>
              <a:t>The government secures obedience.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1728216"/>
            <a:ext cx="3291840" cy="329184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r"/>
            <a:r>
              <a:rPr sz="1200" b="1">
                <a:solidFill>
                  <a:srgbClr val="6D7478"/>
                </a:solidFill>
                <a:latin typeface="Arial"/>
              </a:rPr>
              <a:t>How effective is its power?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743200"/>
            <a:ext cx="10652760" cy="1060704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1832" y="2871216"/>
            <a:ext cx="530352" cy="118872"/>
          </a:xfrm>
          <a:prstGeom prst="rect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1832" y="3054096"/>
            <a:ext cx="347472" cy="347472"/>
          </a:xfrm>
          <a:prstGeom prst="ellipse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063240"/>
            <a:ext cx="347472" cy="29260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9032" y="2907792"/>
            <a:ext cx="1828800" cy="219456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950" b="1">
                <a:solidFill>
                  <a:srgbClr val="202528"/>
                </a:solidFill>
                <a:latin typeface="Arial"/>
              </a:rPr>
              <a:t>BELIEF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2" y="3154680"/>
            <a:ext cx="9866376" cy="585215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150" b="0">
                <a:solidFill>
                  <a:srgbClr val="6D7478"/>
                </a:solidFill>
                <a:latin typeface="Arial"/>
              </a:rPr>
              <a:t>Citizens believe it has a right to rule.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054096"/>
            <a:ext cx="3291840" cy="329184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r"/>
            <a:r>
              <a:rPr sz="1200" b="1">
                <a:solidFill>
                  <a:srgbClr val="6D7478"/>
                </a:solidFill>
                <a:latin typeface="Arial"/>
              </a:rPr>
              <a:t>What do citizens believe?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069080"/>
            <a:ext cx="10652760" cy="1060704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41832" y="4197096"/>
            <a:ext cx="530352" cy="118872"/>
          </a:xfrm>
          <a:prstGeom prst="rect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1832" y="4379976"/>
            <a:ext cx="347472" cy="347472"/>
          </a:xfrm>
          <a:prstGeom prst="ellipse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4389120"/>
            <a:ext cx="347472" cy="29260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9032" y="4233672"/>
            <a:ext cx="1828800" cy="219456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950" b="1">
                <a:solidFill>
                  <a:srgbClr val="202528"/>
                </a:solidFill>
                <a:latin typeface="Arial"/>
              </a:rPr>
              <a:t>JUSTIFICATION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4480560"/>
            <a:ext cx="9866376" cy="585215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150" b="0">
                <a:solidFill>
                  <a:srgbClr val="6D7478"/>
                </a:solidFill>
                <a:latin typeface="Arial"/>
              </a:rPr>
              <a:t>It has a right to rule.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379976"/>
            <a:ext cx="3291840" cy="329184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r"/>
            <a:r>
              <a:rPr sz="1200" b="1">
                <a:solidFill>
                  <a:srgbClr val="6D7478"/>
                </a:solidFill>
                <a:latin typeface="Arial"/>
              </a:rPr>
              <a:t>Is its authority justified?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5029200"/>
            <a:ext cx="10058400" cy="36576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300" b="0">
                <a:solidFill>
                  <a:srgbClr val="6D7478"/>
                </a:solidFill>
                <a:latin typeface="Arial"/>
              </a:rPr>
              <a:t>Evidence for one claim does not automatically establish the others.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365760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850" b="1">
                <a:solidFill>
                  <a:srgbClr val="55B8CF"/>
                </a:solidFill>
                <a:latin typeface="Arial"/>
              </a:rPr>
              <a:t>POLITICS, HISTORY &amp;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182880"/>
            <a:ext cx="64008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r"/>
            <a:r>
              <a:rPr sz="850" b="1">
                <a:solidFill>
                  <a:srgbClr val="6D7478"/>
                </a:solidFill>
                <a:latin typeface="Arial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972800" cy="56692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202528"/>
                </a:solidFill>
                <a:latin typeface="Arial"/>
              </a:rPr>
              <a:t>Institutions embody choices that remain open to criticism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54864"/>
          </a:xfrm>
          <a:prstGeom prst="rect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261872"/>
            <a:ext cx="10515600" cy="41148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400" b="0">
                <a:solidFill>
                  <a:srgbClr val="6D7478"/>
                </a:solidFill>
                <a:latin typeface="Arial"/>
              </a:rPr>
              <a:t>Property rules, voting procedures, and tax systems organize whose claims receive recognition.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3337560" cy="29718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6112" y="2002536"/>
            <a:ext cx="530352" cy="118872"/>
          </a:xfrm>
          <a:prstGeom prst="rect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96112" y="2304287"/>
            <a:ext cx="420624" cy="420624"/>
          </a:xfrm>
          <a:prstGeom prst="ellipse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313432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2276856"/>
            <a:ext cx="24597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770632"/>
            <a:ext cx="3008376" cy="196596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500" b="0">
                <a:solidFill>
                  <a:srgbClr val="6D7478"/>
                </a:solidFill>
                <a:latin typeface="Arial"/>
              </a:rPr>
              <a:t>How did these arrangements emerge?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1874519"/>
            <a:ext cx="3337560" cy="29718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45151" y="2002536"/>
            <a:ext cx="530352" cy="118872"/>
          </a:xfrm>
          <a:prstGeom prst="rect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45151" y="2304287"/>
            <a:ext cx="420624" cy="420624"/>
          </a:xfrm>
          <a:prstGeom prst="ellipse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1" y="2313432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2276856"/>
            <a:ext cx="2459735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5151" y="2770632"/>
            <a:ext cx="3008376" cy="196596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500" b="0">
                <a:solidFill>
                  <a:srgbClr val="6D7478"/>
                </a:solidFill>
                <a:latin typeface="Arial"/>
              </a:rPr>
              <a:t>What consequences do they produce?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1874519"/>
            <a:ext cx="3337560" cy="29718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94192" y="2002536"/>
            <a:ext cx="530352" cy="118872"/>
          </a:xfrm>
          <a:prstGeom prst="rect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94192" y="2304287"/>
            <a:ext cx="420624" cy="420624"/>
          </a:xfrm>
          <a:prstGeom prst="ellipse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2313432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42832" y="2276856"/>
            <a:ext cx="24597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770632"/>
            <a:ext cx="3008376" cy="196596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500" b="0">
                <a:solidFill>
                  <a:srgbClr val="6D7478"/>
                </a:solidFill>
                <a:latin typeface="Arial"/>
              </a:rPr>
              <a:t>What reasons support keeping or changing them?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074920"/>
            <a:ext cx="10058400" cy="36576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300" b="0">
                <a:solidFill>
                  <a:srgbClr val="6D7478"/>
                </a:solidFill>
                <a:latin typeface="Arial"/>
              </a:rPr>
              <a:t>We can ask: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5532120"/>
            <a:ext cx="10835640" cy="566928"/>
          </a:xfrm>
          <a:prstGeom prst="roundRect">
            <a:avLst/>
          </a:prstGeom>
          <a:solidFill>
            <a:srgbClr val="0B7D80"/>
          </a:solidFill>
          <a:ln>
            <a:solidFill>
              <a:srgbClr val="0B7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5586983"/>
            <a:ext cx="10469880" cy="438912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The fact that earlier values shaped an institution does not establish that its present rules are justified.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365760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850" b="1">
                <a:solidFill>
                  <a:srgbClr val="55B8CF"/>
                </a:solidFill>
                <a:latin typeface="Arial"/>
              </a:rPr>
              <a:t>POLITICS, HISTORY &amp;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182880"/>
            <a:ext cx="64008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r"/>
            <a:r>
              <a:rPr sz="850" b="1">
                <a:solidFill>
                  <a:srgbClr val="6D7478"/>
                </a:solidFill>
                <a:latin typeface="Arial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972800" cy="56692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202528"/>
                </a:solidFill>
                <a:latin typeface="Arial"/>
              </a:rPr>
              <a:t>Historical questions shape what becomes visible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54864"/>
          </a:xfrm>
          <a:prstGeom prst="rect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5074920" cy="333756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1832" y="1728216"/>
            <a:ext cx="530352" cy="118872"/>
          </a:xfrm>
          <a:prstGeom prst="rect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2029967"/>
            <a:ext cx="420624" cy="420624"/>
          </a:xfrm>
          <a:prstGeom prst="ellipse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039112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0472" y="2002536"/>
            <a:ext cx="419709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SIDE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496312"/>
            <a:ext cx="4745736" cy="233172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700" b="0">
                <a:solidFill>
                  <a:srgbClr val="6D7478"/>
                </a:solidFill>
                <a:latin typeface="Arial"/>
              </a:rPr>
              <a:t>Consider a history of an empire.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600200"/>
            <a:ext cx="5074920" cy="333756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73951" y="1728216"/>
            <a:ext cx="530352" cy="118872"/>
          </a:xfrm>
          <a:prstGeom prst="rect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3951" y="2029967"/>
            <a:ext cx="420624" cy="420624"/>
          </a:xfrm>
          <a:prstGeom prst="ellipse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1" y="2039112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22592" y="2002536"/>
            <a:ext cx="419709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SIDE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1" y="2496312"/>
            <a:ext cx="4745736" cy="233172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700" b="0">
                <a:solidFill>
                  <a:srgbClr val="6D7478"/>
                </a:solidFill>
                <a:latin typeface="Arial"/>
              </a:rPr>
              <a:t>A focus on administration directs attention to taxes, roads, and military organization.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074920"/>
            <a:ext cx="10058400" cy="384048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300" b="0">
                <a:solidFill>
                  <a:srgbClr val="6D7478"/>
                </a:solidFill>
                <a:latin typeface="Arial"/>
              </a:rPr>
              <a:t>A focus on ordinary life directs attention to labor, displacement, security, and household survival. · Historians’ perspectives influence inquiry while remaining answerable to the record. AHA standards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532120"/>
            <a:ext cx="10835640" cy="566928"/>
          </a:xfrm>
          <a:prstGeom prst="roundRect">
            <a:avLst/>
          </a:prstGeom>
          <a:solidFill>
            <a:srgbClr val="0B7D80"/>
          </a:solidFill>
          <a:ln>
            <a:solidFill>
              <a:srgbClr val="0B7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586983"/>
            <a:ext cx="10469880" cy="438912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The questions we consider important shape the evidence we seek.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92240"/>
            <a:ext cx="9144000" cy="146304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700" b="0">
                <a:solidFill>
                  <a:srgbClr val="6D7478"/>
                </a:solidFill>
                <a:latin typeface="Arial"/>
              </a:rPr>
              <a:t>Sources: historians.org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365760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850" b="1">
                <a:solidFill>
                  <a:srgbClr val="55B8CF"/>
                </a:solidFill>
                <a:latin typeface="Arial"/>
              </a:rPr>
              <a:t>POLITICS, HISTORY &amp;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182880"/>
            <a:ext cx="64008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r"/>
            <a:r>
              <a:rPr sz="850" b="1">
                <a:solidFill>
                  <a:srgbClr val="6D7478"/>
                </a:solidFill>
                <a:latin typeface="Arial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972800" cy="56692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202528"/>
                </a:solidFill>
                <a:latin typeface="Arial"/>
              </a:rPr>
              <a:t>Frederick Douglass challenged an interpretation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54864"/>
          </a:xfrm>
          <a:prstGeom prst="rect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5074920" cy="333756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1832" y="1728216"/>
            <a:ext cx="530352" cy="118872"/>
          </a:xfrm>
          <a:prstGeom prst="rect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2029967"/>
            <a:ext cx="420624" cy="420624"/>
          </a:xfrm>
          <a:prstGeom prst="ellipse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039112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0472" y="2002536"/>
            <a:ext cx="419709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SIDE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496312"/>
            <a:ext cx="4745736" cy="233172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700" b="0">
                <a:solidFill>
                  <a:srgbClr val="6D7478"/>
                </a:solidFill>
                <a:latin typeface="Arial"/>
              </a:rPr>
              <a:t>In his 1845 autobiography, Douglass described people mistaking enslaved people’s singing for evidence of contentment.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600200"/>
            <a:ext cx="5074920" cy="333756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73951" y="1728216"/>
            <a:ext cx="530352" cy="118872"/>
          </a:xfrm>
          <a:prstGeom prst="rect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3951" y="2029967"/>
            <a:ext cx="420624" cy="420624"/>
          </a:xfrm>
          <a:prstGeom prst="ellipse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1" y="2039112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22592" y="2002536"/>
            <a:ext cx="419709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SIDE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1" y="2496312"/>
            <a:ext cx="4745736" cy="233172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700" b="0">
                <a:solidFill>
                  <a:srgbClr val="6D7478"/>
                </a:solidFill>
                <a:latin typeface="Arial"/>
              </a:rPr>
              <a:t>He explained that, in his experience, singing often expressed or relieved sorrow.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074920"/>
            <a:ext cx="10058400" cy="384048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300" b="0">
                <a:solidFill>
                  <a:srgbClr val="6D7478"/>
                </a:solidFill>
                <a:latin typeface="Arial"/>
              </a:rPr>
              <a:t>Listening to the people being described can correct an observer’s interpretation. Douglass, Chapter II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532120"/>
            <a:ext cx="10835640" cy="566928"/>
          </a:xfrm>
          <a:prstGeom prst="roundRect">
            <a:avLst/>
          </a:prstGeom>
          <a:solidFill>
            <a:srgbClr val="0B7D80"/>
          </a:solidFill>
          <a:ln>
            <a:solidFill>
              <a:srgbClr val="0B7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586983"/>
            <a:ext cx="10469880" cy="438912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An apparently familiar behavior had been misunderstood.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92240"/>
            <a:ext cx="9144000" cy="146304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700" b="0">
                <a:solidFill>
                  <a:srgbClr val="6D7478"/>
                </a:solidFill>
                <a:latin typeface="Arial"/>
              </a:rPr>
              <a:t>Sources: teachingamericanhistory.org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365760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850" b="1">
                <a:solidFill>
                  <a:srgbClr val="55B8CF"/>
                </a:solidFill>
                <a:latin typeface="Arial"/>
              </a:rPr>
              <a:t>POLITICS, HISTORY &amp;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182880"/>
            <a:ext cx="64008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r"/>
            <a:r>
              <a:rPr sz="850" b="1">
                <a:solidFill>
                  <a:srgbClr val="6D7478"/>
                </a:solidFill>
                <a:latin typeface="Arial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972800" cy="56692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202528"/>
                </a:solidFill>
                <a:latin typeface="Arial"/>
              </a:rPr>
              <a:t>Historical judgment requires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54864"/>
          </a:xfrm>
          <a:prstGeom prst="rect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261872"/>
            <a:ext cx="10515600" cy="41148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400" b="0">
                <a:solidFill>
                  <a:srgbClr val="6D7478"/>
                </a:solidFill>
                <a:latin typeface="Arial"/>
              </a:rPr>
              <a:t>Taking people’s experiences seriously requires careful evidence.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5166360" cy="13716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77824" y="1911095"/>
            <a:ext cx="530352" cy="118872"/>
          </a:xfrm>
          <a:prstGeom prst="rect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2212848"/>
            <a:ext cx="420624" cy="420624"/>
          </a:xfrm>
          <a:prstGeom prst="ellipse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221991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2185416"/>
            <a:ext cx="42885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679191"/>
            <a:ext cx="4837176" cy="36575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6D7478"/>
                </a:solidFill>
                <a:latin typeface="Arial"/>
              </a:rPr>
              <a:t>Read sources in their historical context.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2784" y="1783080"/>
            <a:ext cx="5166360" cy="13716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7376" y="1911095"/>
            <a:ext cx="530352" cy="118872"/>
          </a:xfrm>
          <a:prstGeom prst="rect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7376" y="2212848"/>
            <a:ext cx="420624" cy="420624"/>
          </a:xfrm>
          <a:prstGeom prst="ellipse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2221991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016" y="2185416"/>
            <a:ext cx="42885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2679191"/>
            <a:ext cx="4837176" cy="36575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6D7478"/>
                </a:solidFill>
                <a:latin typeface="Arial"/>
              </a:rPr>
              <a:t>Investigate disagreements among people at the time.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474720"/>
            <a:ext cx="5166360" cy="13716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4" y="3602736"/>
            <a:ext cx="530352" cy="118872"/>
          </a:xfrm>
          <a:prstGeom prst="rect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7824" y="3904487"/>
            <a:ext cx="420624" cy="420624"/>
          </a:xfrm>
          <a:prstGeom prst="ellipse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3913631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6464" y="3877056"/>
            <a:ext cx="42885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4370831"/>
            <a:ext cx="4837176" cy="36575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6D7478"/>
                </a:solidFill>
                <a:latin typeface="Arial"/>
              </a:rPr>
              <a:t>Examine evidence that challenges your interpretation.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72784" y="3474720"/>
            <a:ext cx="5166360" cy="13716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37376" y="3602736"/>
            <a:ext cx="530352" cy="118872"/>
          </a:xfrm>
          <a:prstGeom prst="rect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7376" y="3904487"/>
            <a:ext cx="420624" cy="420624"/>
          </a:xfrm>
          <a:prstGeom prst="ellipse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3913631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6016" y="3877056"/>
            <a:ext cx="42885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37376" y="4370831"/>
            <a:ext cx="4837176" cy="36575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6D7478"/>
                </a:solidFill>
                <a:latin typeface="Arial"/>
              </a:rPr>
              <a:t>Separate explaining an action from defending it.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074920"/>
            <a:ext cx="10058400" cy="36576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300" b="0">
                <a:solidFill>
                  <a:srgbClr val="6D7478"/>
                </a:solidFill>
                <a:latin typeface="Arial"/>
              </a:rPr>
              <a:t>AHA standards for historical scholarship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532120"/>
            <a:ext cx="10835640" cy="566928"/>
          </a:xfrm>
          <a:prstGeom prst="roundRect">
            <a:avLst/>
          </a:prstGeom>
          <a:solidFill>
            <a:srgbClr val="0B7D80"/>
          </a:solidFill>
          <a:ln>
            <a:solidFill>
              <a:srgbClr val="0B7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586983"/>
            <a:ext cx="10469880" cy="438912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A moral commitment does not excuse a distorted account of the past.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92240"/>
            <a:ext cx="9144000" cy="146304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700" b="0">
                <a:solidFill>
                  <a:srgbClr val="6D7478"/>
                </a:solidFill>
                <a:latin typeface="Arial"/>
              </a:rPr>
              <a:t>Sources: historians.org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365760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850" b="1">
                <a:solidFill>
                  <a:srgbClr val="55B8CF"/>
                </a:solidFill>
                <a:latin typeface="Arial"/>
              </a:rPr>
              <a:t>POLITICS, HISTORY &amp;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182880"/>
            <a:ext cx="64008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r"/>
            <a:r>
              <a:rPr sz="850" b="1">
                <a:solidFill>
                  <a:srgbClr val="6D7478"/>
                </a:solidFill>
                <a:latin typeface="Arial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972800" cy="56692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202528"/>
                </a:solidFill>
                <a:latin typeface="Arial"/>
              </a:rPr>
              <a:t>Our judgments about the past shape future goals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54864"/>
          </a:xfrm>
          <a:prstGeom prst="rect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280160" y="1828800"/>
            <a:ext cx="1234440" cy="1234440"/>
          </a:xfrm>
          <a:prstGeom prst="ellipse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81328" y="2112264"/>
            <a:ext cx="822960" cy="50292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37560"/>
            <a:ext cx="3566160" cy="146304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400" b="0">
                <a:solidFill>
                  <a:srgbClr val="6D7478"/>
                </a:solidFill>
                <a:latin typeface="Arial"/>
              </a:rPr>
              <a:t>If success means survival, we may emphasize preserving authority.</a:t>
            </a:r>
          </a:p>
        </p:txBody>
      </p:sp>
      <p:sp>
        <p:nvSpPr>
          <p:cNvPr id="9" name="Oval 8"/>
          <p:cNvSpPr/>
          <p:nvPr/>
        </p:nvSpPr>
        <p:spPr>
          <a:xfrm>
            <a:off x="4937760" y="1828800"/>
            <a:ext cx="1234440" cy="1234440"/>
          </a:xfrm>
          <a:prstGeom prst="ellipse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38928" y="2112264"/>
            <a:ext cx="822960" cy="50292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337560"/>
            <a:ext cx="3566160" cy="146304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400" b="0">
                <a:solidFill>
                  <a:srgbClr val="6D7478"/>
                </a:solidFill>
                <a:latin typeface="Arial"/>
              </a:rPr>
              <a:t>If success includes public security, we investigate whose security improved.</a:t>
            </a:r>
          </a:p>
        </p:txBody>
      </p:sp>
      <p:sp>
        <p:nvSpPr>
          <p:cNvPr id="12" name="Oval 11"/>
          <p:cNvSpPr/>
          <p:nvPr/>
        </p:nvSpPr>
        <p:spPr>
          <a:xfrm>
            <a:off x="8595360" y="1828800"/>
            <a:ext cx="1234440" cy="1234440"/>
          </a:xfrm>
          <a:prstGeom prst="ellipse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96528" y="2112264"/>
            <a:ext cx="822960" cy="50292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3337560"/>
            <a:ext cx="3566160" cy="146304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400" b="0">
                <a:solidFill>
                  <a:srgbClr val="6D7478"/>
                </a:solidFill>
                <a:latin typeface="Arial"/>
              </a:rPr>
              <a:t>If success includes freedom, we investigate people’s ability to challenge power.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1298448"/>
            <a:ext cx="10332720" cy="384048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400" b="0">
                <a:solidFill>
                  <a:srgbClr val="6D7478"/>
                </a:solidFill>
                <a:latin typeface="Arial"/>
              </a:rPr>
              <a:t>Imagine evaluating a past government.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532120"/>
            <a:ext cx="10835640" cy="566928"/>
          </a:xfrm>
          <a:prstGeom prst="roundRect">
            <a:avLst/>
          </a:prstGeom>
          <a:solidFill>
            <a:srgbClr val="0B7D80"/>
          </a:solidFill>
          <a:ln>
            <a:solidFill>
              <a:srgbClr val="0B7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586983"/>
            <a:ext cx="10469880" cy="438912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Historical lessons depend partly on what we judge worth repeating.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365760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850" b="1">
                <a:solidFill>
                  <a:srgbClr val="0B7D80"/>
                </a:solidFill>
                <a:latin typeface="Arial"/>
              </a:rPr>
              <a:t>PUTNAM’S ARGUMENT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182880"/>
            <a:ext cx="64008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r"/>
            <a:r>
              <a:rPr sz="850" b="1">
                <a:solidFill>
                  <a:srgbClr val="6D7478"/>
                </a:solidFill>
                <a:latin typeface="Arial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972800" cy="56692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202528"/>
                </a:solidFill>
                <a:latin typeface="Arial"/>
              </a:rPr>
              <a:t>Interaction alone does not prove entanglement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54864"/>
          </a:xfrm>
          <a:prstGeom prst="rect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5074920" cy="333756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1832" y="1728216"/>
            <a:ext cx="530352" cy="118872"/>
          </a:xfrm>
          <a:prstGeom prst="rect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2029967"/>
            <a:ext cx="420624" cy="420624"/>
          </a:xfrm>
          <a:prstGeom prst="ellipse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039112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0472" y="2002536"/>
            <a:ext cx="419709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SIDE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496312"/>
            <a:ext cx="4745736" cy="233172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700" b="0">
                <a:solidFill>
                  <a:srgbClr val="6D7478"/>
                </a:solidFill>
                <a:latin typeface="Arial"/>
              </a:rPr>
              <a:t>Values influence research questions and institutions.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600200"/>
            <a:ext cx="5074920" cy="333756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73951" y="1728216"/>
            <a:ext cx="530352" cy="118872"/>
          </a:xfrm>
          <a:prstGeom prst="rect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3951" y="2029967"/>
            <a:ext cx="420624" cy="420624"/>
          </a:xfrm>
          <a:prstGeom prst="ellipse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1" y="2039112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22592" y="2002536"/>
            <a:ext cx="419709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SIDE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1" y="2496312"/>
            <a:ext cx="4745736" cy="233172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700" b="0">
                <a:solidFill>
                  <a:srgbClr val="6D7478"/>
                </a:solidFill>
                <a:latin typeface="Arial"/>
              </a:rPr>
              <a:t>Evidence can change evaluations.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074920"/>
            <a:ext cx="10058400" cy="384048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300" b="0">
                <a:solidFill>
                  <a:srgbClr val="6D7478"/>
                </a:solidFill>
                <a:latin typeface="Arial"/>
              </a:rPr>
              <a:t>Measures of success need justification.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532120"/>
            <a:ext cx="10835640" cy="566928"/>
          </a:xfrm>
          <a:prstGeom prst="roundRect">
            <a:avLst/>
          </a:prstGeom>
          <a:solidFill>
            <a:srgbClr val="0B7D80"/>
          </a:solidFill>
          <a:ln>
            <a:solidFill>
              <a:srgbClr val="0B7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586983"/>
            <a:ext cx="10469880" cy="438912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Putnam’s stronger challenge concerns whether description and evaluation can always be cleanly separated.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365760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850" b="1">
                <a:solidFill>
                  <a:srgbClr val="0B7D80"/>
                </a:solidFill>
                <a:latin typeface="Arial"/>
              </a:rPr>
              <a:t>PUTNAM’S ARGUMENT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182880"/>
            <a:ext cx="64008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r"/>
            <a:r>
              <a:rPr sz="850" b="1">
                <a:solidFill>
                  <a:srgbClr val="6D7478"/>
                </a:solidFill>
                <a:latin typeface="Arial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972800" cy="56692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202528"/>
                </a:solidFill>
                <a:latin typeface="Arial"/>
              </a:rPr>
              <a:t>Some concepts describe and evaluate together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54864"/>
          </a:xfrm>
          <a:prstGeom prst="rect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1828800"/>
            <a:ext cx="2468880" cy="2468880"/>
          </a:xfrm>
          <a:prstGeom prst="ellipse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2651760"/>
            <a:ext cx="2011680" cy="50292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CRUEL</a:t>
            </a:r>
          </a:p>
        </p:txBody>
      </p:sp>
      <p:sp>
        <p:nvSpPr>
          <p:cNvPr id="8" name="Oval 7"/>
          <p:cNvSpPr/>
          <p:nvPr/>
        </p:nvSpPr>
        <p:spPr>
          <a:xfrm>
            <a:off x="4709160" y="1828800"/>
            <a:ext cx="2468880" cy="2468880"/>
          </a:xfrm>
          <a:prstGeom prst="ellipse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0" y="2651760"/>
            <a:ext cx="2011680" cy="50292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HONEST</a:t>
            </a:r>
          </a:p>
        </p:txBody>
      </p:sp>
      <p:sp>
        <p:nvSpPr>
          <p:cNvPr id="10" name="Oval 9"/>
          <p:cNvSpPr/>
          <p:nvPr/>
        </p:nvSpPr>
        <p:spPr>
          <a:xfrm>
            <a:off x="8321040" y="1828800"/>
            <a:ext cx="2468880" cy="2468880"/>
          </a:xfrm>
          <a:prstGeom prst="ellipse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49640" y="2651760"/>
            <a:ext cx="2011680" cy="50292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COURAGEOUS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663440"/>
            <a:ext cx="8503920" cy="6858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400" b="0">
                <a:solidFill>
                  <a:srgbClr val="6D7478"/>
                </a:solidFill>
                <a:latin typeface="Arial"/>
              </a:rPr>
              <a:t>Philosophers call these thick ethical concepts. They characterize conduct while also carrying evaluative significance.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029200"/>
            <a:ext cx="10058400" cy="36576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300" b="0">
                <a:solidFill>
                  <a:srgbClr val="6D7478"/>
                </a:solidFill>
                <a:latin typeface="Arial"/>
              </a:rPr>
              <a:t>This is a central question in Putnam’s argument. The reading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5532120"/>
            <a:ext cx="10835640" cy="566928"/>
          </a:xfrm>
          <a:prstGeom prst="roundRect">
            <a:avLst/>
          </a:prstGeom>
          <a:solidFill>
            <a:srgbClr val="0B7D80"/>
          </a:solidFill>
          <a:ln>
            <a:solidFill>
              <a:srgbClr val="0B7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586983"/>
            <a:ext cx="10469880" cy="438912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Can we fully explain what such a concept means by separating neutral description from approval or disapproval?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92240"/>
            <a:ext cx="9144000" cy="146304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700" b="0">
                <a:solidFill>
                  <a:srgbClr val="6D7478"/>
                </a:solidFill>
                <a:latin typeface="Arial"/>
              </a:rPr>
              <a:t>Sources: jstor.org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365760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850" b="1">
                <a:solidFill>
                  <a:srgbClr val="0B7D80"/>
                </a:solidFill>
                <a:latin typeface="Arial"/>
              </a:rPr>
              <a:t>PUTNAM’S ARGUMENT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182880"/>
            <a:ext cx="64008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r"/>
            <a:r>
              <a:rPr sz="850" b="1">
                <a:solidFill>
                  <a:srgbClr val="6D7478"/>
                </a:solidFill>
                <a:latin typeface="Arial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972800" cy="56692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202528"/>
                </a:solidFill>
                <a:latin typeface="Arial"/>
              </a:rPr>
              <a:t>What makes an action cruel?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54864"/>
          </a:xfrm>
          <a:prstGeom prst="rect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261872"/>
            <a:ext cx="10515600" cy="41148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400" b="0">
                <a:solidFill>
                  <a:srgbClr val="6D7478"/>
                </a:solidFill>
                <a:latin typeface="Arial"/>
              </a:rPr>
              <a:t>Imagine a teacher repeatedly ridiculing a struggling student.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5166360" cy="13716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77824" y="1911095"/>
            <a:ext cx="530352" cy="118872"/>
          </a:xfrm>
          <a:prstGeom prst="rect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2212848"/>
            <a:ext cx="420624" cy="420624"/>
          </a:xfrm>
          <a:prstGeom prst="ellipse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221991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2185416"/>
            <a:ext cx="42885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679191"/>
            <a:ext cx="4837176" cy="36575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6D7478"/>
                </a:solidFill>
                <a:latin typeface="Arial"/>
              </a:rPr>
              <a:t>What suffering or humiliation occurred?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2784" y="1783080"/>
            <a:ext cx="5166360" cy="13716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7376" y="1911095"/>
            <a:ext cx="530352" cy="118872"/>
          </a:xfrm>
          <a:prstGeom prst="rect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7376" y="2212848"/>
            <a:ext cx="420624" cy="420624"/>
          </a:xfrm>
          <a:prstGeom prst="ellipse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2221991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016" y="2185416"/>
            <a:ext cx="42885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2679191"/>
            <a:ext cx="4837176" cy="36575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6D7478"/>
                </a:solidFill>
                <a:latin typeface="Arial"/>
              </a:rPr>
              <a:t>What did the teacher understand?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474720"/>
            <a:ext cx="5166360" cy="13716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4" y="3602736"/>
            <a:ext cx="530352" cy="118872"/>
          </a:xfrm>
          <a:prstGeom prst="rect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7824" y="3904487"/>
            <a:ext cx="420624" cy="420624"/>
          </a:xfrm>
          <a:prstGeom prst="ellipse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3913631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6464" y="3877056"/>
            <a:ext cx="42885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4370831"/>
            <a:ext cx="4837176" cy="36575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6D7478"/>
                </a:solidFill>
                <a:latin typeface="Arial"/>
              </a:rPr>
              <a:t>How vulnerable was the student?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72784" y="3474720"/>
            <a:ext cx="5166360" cy="13716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37376" y="3602736"/>
            <a:ext cx="530352" cy="118872"/>
          </a:xfrm>
          <a:prstGeom prst="rect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7376" y="3904487"/>
            <a:ext cx="420624" cy="420624"/>
          </a:xfrm>
          <a:prstGeom prst="ellipse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3913631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6016" y="3877056"/>
            <a:ext cx="42885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37376" y="4370831"/>
            <a:ext cx="4837176" cy="36575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6D7478"/>
                </a:solidFill>
                <a:latin typeface="Arial"/>
              </a:rPr>
              <a:t>What reasons, if any, justified the conduct?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074920"/>
            <a:ext cx="10058400" cy="36576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300" b="0">
                <a:solidFill>
                  <a:srgbClr val="6D7478"/>
                </a:solidFill>
                <a:latin typeface="Arial"/>
              </a:rPr>
              <a:t>Assessing cruelty involves questions such as: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532120"/>
            <a:ext cx="10835640" cy="566928"/>
          </a:xfrm>
          <a:prstGeom prst="roundRect">
            <a:avLst/>
          </a:prstGeom>
          <a:solidFill>
            <a:srgbClr val="0B7D80"/>
          </a:solidFill>
          <a:ln>
            <a:solidFill>
              <a:srgbClr val="0B7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586983"/>
            <a:ext cx="10469880" cy="438912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Pain alone cannot settle the judgment: necessary medical treatment can also hurt.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365760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850" b="1">
                <a:solidFill>
                  <a:srgbClr val="0B7D80"/>
                </a:solidFill>
                <a:latin typeface="Arial"/>
              </a:rPr>
              <a:t>PUTNAM’S ARGUMENT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182880"/>
            <a:ext cx="64008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r"/>
            <a:r>
              <a:rPr sz="850" b="1">
                <a:solidFill>
                  <a:srgbClr val="6D7478"/>
                </a:solidFill>
                <a:latin typeface="Arial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972800" cy="56692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202528"/>
                </a:solidFill>
                <a:latin typeface="Arial"/>
              </a:rPr>
              <a:t>Putnam challenges the proposed separation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54864"/>
          </a:xfrm>
          <a:prstGeom prst="rect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5074920" cy="333756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1832" y="1728216"/>
            <a:ext cx="530352" cy="118872"/>
          </a:xfrm>
          <a:prstGeom prst="rect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2029967"/>
            <a:ext cx="420624" cy="420624"/>
          </a:xfrm>
          <a:prstGeom prst="ellipse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039112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0472" y="2002536"/>
            <a:ext cx="419709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SIDE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496312"/>
            <a:ext cx="4745736" cy="233172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700" b="0">
                <a:solidFill>
                  <a:srgbClr val="6D7478"/>
                </a:solidFill>
                <a:latin typeface="Arial"/>
              </a:rPr>
              <a:t>Can the neutral description identify everything relevant to cruelty?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600200"/>
            <a:ext cx="5074920" cy="333756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73951" y="1728216"/>
            <a:ext cx="530352" cy="118872"/>
          </a:xfrm>
          <a:prstGeom prst="rect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3951" y="2029967"/>
            <a:ext cx="420624" cy="420624"/>
          </a:xfrm>
          <a:prstGeom prst="ellipse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1" y="2039112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22592" y="2002536"/>
            <a:ext cx="419709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SIDE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1" y="2496312"/>
            <a:ext cx="4745736" cy="233172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700" b="0">
                <a:solidFill>
                  <a:srgbClr val="6D7478"/>
                </a:solidFill>
                <a:latin typeface="Arial"/>
              </a:rPr>
              <a:t>Do terms such as “gratuitous” or “humiliating” reintroduce evaluation?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074920"/>
            <a:ext cx="10058400" cy="384048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300" b="0">
                <a:solidFill>
                  <a:srgbClr val="6D7478"/>
                </a:solidFill>
                <a:latin typeface="Arial"/>
              </a:rPr>
              <a:t>Can the separation preserve the concept across different cases?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92240"/>
            <a:ext cx="9144000" cy="146304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700" b="0">
                <a:solidFill>
                  <a:srgbClr val="6D7478"/>
                </a:solidFill>
                <a:latin typeface="Arial"/>
              </a:rPr>
              <a:t>Sources: nordprag.org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365760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850" b="1">
                <a:solidFill>
                  <a:srgbClr val="0B7D80"/>
                </a:solidFill>
                <a:latin typeface="Arial"/>
              </a:rPr>
              <a:t>PUTNAM’S ARGUMENT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182880"/>
            <a:ext cx="64008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r"/>
            <a:r>
              <a:rPr sz="850" b="1">
                <a:solidFill>
                  <a:srgbClr val="6D7478"/>
                </a:solidFill>
                <a:latin typeface="Arial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972800" cy="56692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202528"/>
                </a:solidFill>
                <a:latin typeface="Arial"/>
              </a:rPr>
              <a:t>Scientific inquiry also depends on standards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54864"/>
          </a:xfrm>
          <a:prstGeom prst="rect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261872"/>
            <a:ext cx="10515600" cy="41148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400" b="0">
                <a:solidFill>
                  <a:srgbClr val="6D7478"/>
                </a:solidFill>
                <a:latin typeface="Arial"/>
              </a:rPr>
              <a:t>Scientists assess explanations using: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5166360" cy="13716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77824" y="1911095"/>
            <a:ext cx="530352" cy="118872"/>
          </a:xfrm>
          <a:prstGeom prst="rect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2212848"/>
            <a:ext cx="420624" cy="420624"/>
          </a:xfrm>
          <a:prstGeom prst="ellipse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221991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2185416"/>
            <a:ext cx="42885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679191"/>
            <a:ext cx="4837176" cy="36575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6D7478"/>
                </a:solidFill>
                <a:latin typeface="Arial"/>
              </a:rPr>
              <a:t>Fit with evidence.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2784" y="1783080"/>
            <a:ext cx="5166360" cy="13716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7376" y="1911095"/>
            <a:ext cx="530352" cy="118872"/>
          </a:xfrm>
          <a:prstGeom prst="rect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7376" y="2212848"/>
            <a:ext cx="420624" cy="420624"/>
          </a:xfrm>
          <a:prstGeom prst="ellipse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2221991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016" y="2185416"/>
            <a:ext cx="42885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2679191"/>
            <a:ext cx="4837176" cy="36575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6D7478"/>
                </a:solidFill>
                <a:latin typeface="Arial"/>
              </a:rPr>
              <a:t>Coherence.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474720"/>
            <a:ext cx="5166360" cy="13716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4" y="3602736"/>
            <a:ext cx="530352" cy="118872"/>
          </a:xfrm>
          <a:prstGeom prst="rect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7824" y="3904487"/>
            <a:ext cx="420624" cy="420624"/>
          </a:xfrm>
          <a:prstGeom prst="ellipse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3913631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6464" y="3877056"/>
            <a:ext cx="42885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4370831"/>
            <a:ext cx="4837176" cy="36575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6D7478"/>
                </a:solidFill>
                <a:latin typeface="Arial"/>
              </a:rPr>
              <a:t>Explanatory power.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72784" y="3474720"/>
            <a:ext cx="5166360" cy="13716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37376" y="3602736"/>
            <a:ext cx="530352" cy="118872"/>
          </a:xfrm>
          <a:prstGeom prst="rect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7376" y="3904487"/>
            <a:ext cx="420624" cy="420624"/>
          </a:xfrm>
          <a:prstGeom prst="ellipse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3913631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6016" y="3877056"/>
            <a:ext cx="42885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37376" y="4370831"/>
            <a:ext cx="4837176" cy="36575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6D7478"/>
                </a:solidFill>
                <a:latin typeface="Arial"/>
              </a:rPr>
              <a:t>Simplicity, where appropriate.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074920"/>
            <a:ext cx="10058400" cy="36576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300" b="0">
                <a:solidFill>
                  <a:srgbClr val="6D7478"/>
                </a:solidFill>
                <a:latin typeface="Arial"/>
              </a:rPr>
              <a:t>Putnam emphasizes that judging a theory worthy of acceptance involves standards about how we ought to reason. Putnam, “Beyond the Fact/Value Dichotomy”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92240"/>
            <a:ext cx="9144000" cy="146304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700" b="0">
                <a:solidFill>
                  <a:srgbClr val="6D7478"/>
                </a:solidFill>
                <a:latin typeface="Arial"/>
              </a:rPr>
              <a:t>Sources: inters.org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365760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850" b="1">
                <a:solidFill>
                  <a:srgbClr val="0B7D80"/>
                </a:solidFill>
                <a:latin typeface="Arial"/>
              </a:rPr>
              <a:t>PUTNAM’S ARGUMENT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182880"/>
            <a:ext cx="64008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r"/>
            <a:r>
              <a:rPr sz="850" b="1">
                <a:solidFill>
                  <a:srgbClr val="6D7478"/>
                </a:solidFill>
                <a:latin typeface="Arial"/>
              </a:rP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972800" cy="56692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2100" b="1">
                <a:solidFill>
                  <a:srgbClr val="202528"/>
                </a:solidFill>
                <a:latin typeface="Arial"/>
              </a:rPr>
              <a:t>Disagreement does not automatically defeat rational judgment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54864"/>
          </a:xfrm>
          <a:prstGeom prst="rect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261872"/>
            <a:ext cx="10515600" cy="41148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400" b="0">
                <a:solidFill>
                  <a:srgbClr val="6D7478"/>
                </a:solidFill>
                <a:latin typeface="Arial"/>
              </a:rPr>
              <a:t>Researchers can disagree about: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3337560" cy="29718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6112" y="2002536"/>
            <a:ext cx="530352" cy="118872"/>
          </a:xfrm>
          <a:prstGeom prst="rect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96112" y="2304287"/>
            <a:ext cx="420624" cy="420624"/>
          </a:xfrm>
          <a:prstGeom prst="ellipse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313432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2276856"/>
            <a:ext cx="24597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770632"/>
            <a:ext cx="3008376" cy="196596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500" b="0">
                <a:solidFill>
                  <a:srgbClr val="6D7478"/>
                </a:solidFill>
                <a:latin typeface="Arial"/>
              </a:rPr>
              <a:t>Which explanation is more adequate.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1874519"/>
            <a:ext cx="3337560" cy="29718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45151" y="2002536"/>
            <a:ext cx="530352" cy="118872"/>
          </a:xfrm>
          <a:prstGeom prst="rect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45151" y="2304287"/>
            <a:ext cx="420624" cy="420624"/>
          </a:xfrm>
          <a:prstGeom prst="ellipse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1" y="2313432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2276856"/>
            <a:ext cx="2459735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5151" y="2770632"/>
            <a:ext cx="3008376" cy="196596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500" b="0">
                <a:solidFill>
                  <a:srgbClr val="6D7478"/>
                </a:solidFill>
                <a:latin typeface="Arial"/>
              </a:rPr>
              <a:t>Whether an assumption is reasonable.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1874519"/>
            <a:ext cx="3337560" cy="29718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94192" y="2002536"/>
            <a:ext cx="530352" cy="118872"/>
          </a:xfrm>
          <a:prstGeom prst="rect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94192" y="2304287"/>
            <a:ext cx="420624" cy="420624"/>
          </a:xfrm>
          <a:prstGeom prst="ellipse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2313432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42832" y="2276856"/>
            <a:ext cx="24597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770632"/>
            <a:ext cx="3008376" cy="196596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500" b="0">
                <a:solidFill>
                  <a:srgbClr val="6D7478"/>
                </a:solidFill>
                <a:latin typeface="Arial"/>
              </a:rPr>
              <a:t>How to weigh competing theoretical virtues.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074920"/>
            <a:ext cx="10058400" cy="36576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300" b="0">
                <a:solidFill>
                  <a:srgbClr val="6D7478"/>
                </a:solidFill>
                <a:latin typeface="Arial"/>
              </a:rPr>
              <a:t>Putnam asks why similar difficulties should automatically disqualify ethical judgment from rational assessment. Putnam’s argument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9144000" cy="146304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700" b="0">
                <a:solidFill>
                  <a:srgbClr val="6D7478"/>
                </a:solidFill>
                <a:latin typeface="Arial"/>
              </a:rPr>
              <a:t>Sources: inters.org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365760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850" b="1">
                <a:solidFill>
                  <a:srgbClr val="0B7D80"/>
                </a:solidFill>
                <a:latin typeface="Arial"/>
              </a:rPr>
              <a:t>PUTNAM’S ARGUMENT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182880"/>
            <a:ext cx="64008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r"/>
            <a:r>
              <a:rPr sz="850" b="1">
                <a:solidFill>
                  <a:srgbClr val="6D7478"/>
                </a:solidFill>
                <a:latin typeface="Arial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972800" cy="56692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202528"/>
                </a:solidFill>
                <a:latin typeface="Arial"/>
              </a:rPr>
              <a:t>The strongest objection distinguishes kinds of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54864"/>
          </a:xfrm>
          <a:prstGeom prst="rect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5074920" cy="333756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1832" y="1728216"/>
            <a:ext cx="530352" cy="118872"/>
          </a:xfrm>
          <a:prstGeom prst="rect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832" y="2029967"/>
            <a:ext cx="420624" cy="420624"/>
          </a:xfrm>
          <a:prstGeom prst="ellipse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039112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0472" y="2002536"/>
            <a:ext cx="419709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SIDE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496312"/>
            <a:ext cx="4745736" cy="233172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700" b="0">
                <a:solidFill>
                  <a:srgbClr val="6D7478"/>
                </a:solidFill>
                <a:latin typeface="Arial"/>
              </a:rPr>
              <a:t>Science needing standards does not automatically establish moral objectivity.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600200"/>
            <a:ext cx="5074920" cy="333756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73951" y="1728216"/>
            <a:ext cx="530352" cy="118872"/>
          </a:xfrm>
          <a:prstGeom prst="rect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3951" y="2029967"/>
            <a:ext cx="420624" cy="420624"/>
          </a:xfrm>
          <a:prstGeom prst="ellipse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1" y="2039112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22592" y="2002536"/>
            <a:ext cx="419709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SIDE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1" y="2496312"/>
            <a:ext cx="4745736" cy="233172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700" b="0">
                <a:solidFill>
                  <a:srgbClr val="6D7478"/>
                </a:solidFill>
                <a:latin typeface="Arial"/>
              </a:rPr>
              <a:t>Putnam must explain why ethical judgments can also be justified.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074920"/>
            <a:ext cx="10058400" cy="384048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300" b="0">
                <a:solidFill>
                  <a:srgbClr val="6D7478"/>
                </a:solidFill>
                <a:latin typeface="Arial"/>
              </a:rPr>
              <a:t>That objection deserves an answer.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532120"/>
            <a:ext cx="10835640" cy="566928"/>
          </a:xfrm>
          <a:prstGeom prst="roundRect">
            <a:avLst/>
          </a:prstGeom>
          <a:solidFill>
            <a:srgbClr val="0B7D80"/>
          </a:solidFill>
          <a:ln>
            <a:solidFill>
              <a:srgbClr val="0B7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586983"/>
            <a:ext cx="10469880" cy="438912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The argument puts pressure on the divide; further reasoning is still required.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365760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850" b="1">
                <a:solidFill>
                  <a:srgbClr val="0B7D80"/>
                </a:solidFill>
                <a:latin typeface="Arial"/>
              </a:rPr>
              <a:t>PUTNAM’S ARGUMENT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182880"/>
            <a:ext cx="64008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r"/>
            <a:r>
              <a:rPr sz="850" b="1">
                <a:solidFill>
                  <a:srgbClr val="6D7478"/>
                </a:solidFill>
                <a:latin typeface="Arial"/>
              </a:rPr>
              <a:t>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972800" cy="56692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202528"/>
                </a:solidFill>
                <a:latin typeface="Arial"/>
              </a:rPr>
              <a:t>Entanglement does not settle every moral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54864"/>
          </a:xfrm>
          <a:prstGeom prst="rect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261872"/>
            <a:ext cx="10515600" cy="41148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400" b="0">
                <a:solidFill>
                  <a:srgbClr val="6D7478"/>
                </a:solidFill>
                <a:latin typeface="Arial"/>
              </a:rPr>
              <a:t>Putnam’s challenge does not establish that: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5166360" cy="13716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77824" y="1911095"/>
            <a:ext cx="530352" cy="118872"/>
          </a:xfrm>
          <a:prstGeom prst="rect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2212848"/>
            <a:ext cx="420624" cy="420624"/>
          </a:xfrm>
          <a:prstGeom prst="ellipse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221991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2185416"/>
            <a:ext cx="42885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679191"/>
            <a:ext cx="4837176" cy="36575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6D7478"/>
                </a:solidFill>
                <a:latin typeface="Arial"/>
              </a:rPr>
              <a:t>Every factual statement is a moral judgment.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2784" y="1783080"/>
            <a:ext cx="5166360" cy="13716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7376" y="1911095"/>
            <a:ext cx="530352" cy="118872"/>
          </a:xfrm>
          <a:prstGeom prst="rect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7376" y="2212848"/>
            <a:ext cx="420624" cy="420624"/>
          </a:xfrm>
          <a:prstGeom prst="ellipse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2221991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016" y="2185416"/>
            <a:ext cx="42885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2679191"/>
            <a:ext cx="4837176" cy="36575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6D7478"/>
                </a:solidFill>
                <a:latin typeface="Arial"/>
              </a:rPr>
              <a:t>Every sincere evaluation is correct.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474720"/>
            <a:ext cx="5166360" cy="13716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4" y="3602736"/>
            <a:ext cx="530352" cy="118872"/>
          </a:xfrm>
          <a:prstGeom prst="rect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7824" y="3904487"/>
            <a:ext cx="420624" cy="420624"/>
          </a:xfrm>
          <a:prstGeom prst="ellipse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3913631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6464" y="3877056"/>
            <a:ext cx="42885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4370831"/>
            <a:ext cx="4837176" cy="36575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6D7478"/>
                </a:solidFill>
                <a:latin typeface="Arial"/>
              </a:rPr>
              <a:t>Economic growth automatically creates an obligation.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72784" y="3474720"/>
            <a:ext cx="5166360" cy="13716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37376" y="3602736"/>
            <a:ext cx="530352" cy="118872"/>
          </a:xfrm>
          <a:prstGeom prst="rect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7376" y="3904487"/>
            <a:ext cx="420624" cy="420624"/>
          </a:xfrm>
          <a:prstGeom prst="ellipse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3913631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6016" y="3877056"/>
            <a:ext cx="42885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37376" y="4370831"/>
            <a:ext cx="4837176" cy="36575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6D7478"/>
                </a:solidFill>
                <a:latin typeface="Arial"/>
              </a:rPr>
              <a:t>One political system follows uniquely from the evidence.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074920"/>
            <a:ext cx="10058400" cy="36576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300" b="0">
                <a:solidFill>
                  <a:srgbClr val="6D7478"/>
                </a:solidFill>
                <a:latin typeface="Arial"/>
              </a:rPr>
              <a:t>A premise such as “this policy is cruel” already contains evaluation.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532120"/>
            <a:ext cx="10835640" cy="566928"/>
          </a:xfrm>
          <a:prstGeom prst="roundRect">
            <a:avLst/>
          </a:prstGeom>
          <a:solidFill>
            <a:srgbClr val="0B7D80"/>
          </a:solidFill>
          <a:ln>
            <a:solidFill>
              <a:srgbClr val="0B7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586983"/>
            <a:ext cx="10469880" cy="438912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Using that premise does not derive morality from wholly neutral premises.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365760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850" b="1">
                <a:solidFill>
                  <a:srgbClr val="0B7D80"/>
                </a:solidFill>
                <a:latin typeface="Arial"/>
              </a:rPr>
              <a:t>PUTNAM’S ARGUMENT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182880"/>
            <a:ext cx="64008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r"/>
            <a:r>
              <a:rPr sz="850" b="1">
                <a:solidFill>
                  <a:srgbClr val="6D7478"/>
                </a:solidFill>
                <a:latin typeface="Arial"/>
              </a:rPr>
              <a:t>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972800" cy="56692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202528"/>
                </a:solidFill>
                <a:latin typeface="Arial"/>
              </a:rPr>
              <a:t>Evaluative standards can themselves face criticism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54864"/>
          </a:xfrm>
          <a:prstGeom prst="rect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261872"/>
            <a:ext cx="10515600" cy="41148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400" b="0">
                <a:solidFill>
                  <a:srgbClr val="6D7478"/>
                </a:solidFill>
                <a:latin typeface="Arial"/>
              </a:rPr>
              <a:t>Suppose we call a policy fair because everyone receives the same payment.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5166360" cy="13716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77824" y="1911095"/>
            <a:ext cx="530352" cy="118872"/>
          </a:xfrm>
          <a:prstGeom prst="rect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2212848"/>
            <a:ext cx="420624" cy="420624"/>
          </a:xfrm>
          <a:prstGeom prst="ellipse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221991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2185416"/>
            <a:ext cx="42885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679191"/>
            <a:ext cx="4837176" cy="36575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6D7478"/>
                </a:solidFill>
                <a:latin typeface="Arial"/>
              </a:rPr>
              <a:t>Does equal payment address substantially different needs?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2784" y="1783080"/>
            <a:ext cx="5166360" cy="13716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7376" y="1911095"/>
            <a:ext cx="530352" cy="118872"/>
          </a:xfrm>
          <a:prstGeom prst="rect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7376" y="2212848"/>
            <a:ext cx="420624" cy="420624"/>
          </a:xfrm>
          <a:prstGeom prst="ellipse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2221991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016" y="2185416"/>
            <a:ext cx="42885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2679191"/>
            <a:ext cx="4837176" cy="36575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6D7478"/>
                </a:solidFill>
                <a:latin typeface="Arial"/>
              </a:rPr>
              <a:t>Does the rule serve its stated purpose?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474720"/>
            <a:ext cx="5166360" cy="13716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4" y="3602736"/>
            <a:ext cx="530352" cy="118872"/>
          </a:xfrm>
          <a:prstGeom prst="rect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7824" y="3904487"/>
            <a:ext cx="420624" cy="420624"/>
          </a:xfrm>
          <a:prstGeom prst="ellipse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3913631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6464" y="3877056"/>
            <a:ext cx="42885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4370831"/>
            <a:ext cx="4837176" cy="36575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6D7478"/>
                </a:solidFill>
                <a:latin typeface="Arial"/>
              </a:rPr>
              <a:t>Can its justification survive relevant counterexamples?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72784" y="3474720"/>
            <a:ext cx="5166360" cy="13716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37376" y="3602736"/>
            <a:ext cx="530352" cy="118872"/>
          </a:xfrm>
          <a:prstGeom prst="rect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7376" y="3904487"/>
            <a:ext cx="420624" cy="420624"/>
          </a:xfrm>
          <a:prstGeom prst="ellipse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3913631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6016" y="3877056"/>
            <a:ext cx="42885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37376" y="4370831"/>
            <a:ext cx="4837176" cy="36575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6D7478"/>
                </a:solidFill>
                <a:latin typeface="Arial"/>
              </a:rPr>
              <a:t>What evidence would make us revise it?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074920"/>
            <a:ext cx="10058400" cy="36576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300" b="0">
                <a:solidFill>
                  <a:srgbClr val="6D7478"/>
                </a:solidFill>
                <a:latin typeface="Arial"/>
              </a:rPr>
              <a:t>We can examine that standard: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5532120"/>
            <a:ext cx="10835640" cy="566928"/>
          </a:xfrm>
          <a:prstGeom prst="roundRect">
            <a:avLst/>
          </a:prstGeom>
          <a:solidFill>
            <a:srgbClr val="0B7D80"/>
          </a:solidFill>
          <a:ln>
            <a:solidFill>
              <a:srgbClr val="0B7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586983"/>
            <a:ext cx="10469880" cy="438912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Evaluation can involve argument, investigation, and correction.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365760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850" b="1">
                <a:solidFill>
                  <a:srgbClr val="F2933A"/>
                </a:solidFill>
                <a:latin typeface="Arial"/>
              </a:rPr>
              <a:t>STAKES &amp; READING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182880"/>
            <a:ext cx="64008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r"/>
            <a:r>
              <a:rPr sz="850" b="1">
                <a:solidFill>
                  <a:srgbClr val="6D7478"/>
                </a:solidFill>
                <a:latin typeface="Arial"/>
              </a:rPr>
              <a:t>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972800" cy="56692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202528"/>
                </a:solidFill>
                <a:latin typeface="Arial"/>
              </a:rPr>
              <a:t>The larger issue is the reach of reason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54864"/>
          </a:xfrm>
          <a:prstGeom prst="rect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261872"/>
            <a:ext cx="10515600" cy="41148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400" b="0">
                <a:solidFill>
                  <a:srgbClr val="6D7478"/>
                </a:solidFill>
                <a:latin typeface="Arial"/>
              </a:rPr>
              <a:t>The stakes extend across disciplines: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5166360" cy="13716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77824" y="1911095"/>
            <a:ext cx="530352" cy="118872"/>
          </a:xfrm>
          <a:prstGeom prst="rect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2212848"/>
            <a:ext cx="420624" cy="420624"/>
          </a:xfrm>
          <a:prstGeom prst="ellipse">
            <a:avLst/>
          </a:prstGeom>
          <a:solidFill>
            <a:srgbClr val="0B7D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221991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2185416"/>
            <a:ext cx="42885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679191"/>
            <a:ext cx="4837176" cy="36575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6D7478"/>
                </a:solidFill>
                <a:latin typeface="Arial"/>
              </a:rPr>
              <a:t>Economics: Can we justify what counts as welfare?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2784" y="1783080"/>
            <a:ext cx="5166360" cy="13716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7376" y="1911095"/>
            <a:ext cx="530352" cy="118872"/>
          </a:xfrm>
          <a:prstGeom prst="rect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37376" y="2212848"/>
            <a:ext cx="420624" cy="420624"/>
          </a:xfrm>
          <a:prstGeom prst="ellipse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2221991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016" y="2185416"/>
            <a:ext cx="42885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2679191"/>
            <a:ext cx="4837176" cy="36575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6D7478"/>
                </a:solidFill>
                <a:latin typeface="Arial"/>
              </a:rPr>
              <a:t>Politics: Can we assess authority as well as explain power?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474720"/>
            <a:ext cx="5166360" cy="13716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24" y="3602736"/>
            <a:ext cx="530352" cy="118872"/>
          </a:xfrm>
          <a:prstGeom prst="rect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7824" y="3904487"/>
            <a:ext cx="420624" cy="420624"/>
          </a:xfrm>
          <a:prstGeom prst="ellipse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3913631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6464" y="3877056"/>
            <a:ext cx="42885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4370831"/>
            <a:ext cx="4837176" cy="36575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6D7478"/>
                </a:solidFill>
                <a:latin typeface="Arial"/>
              </a:rPr>
              <a:t>History: Can we defend judgments about progress and failure?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72784" y="3474720"/>
            <a:ext cx="5166360" cy="13716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37376" y="3602736"/>
            <a:ext cx="530352" cy="118872"/>
          </a:xfrm>
          <a:prstGeom prst="rect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7376" y="3904487"/>
            <a:ext cx="420624" cy="420624"/>
          </a:xfrm>
          <a:prstGeom prst="ellipse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37376" y="3913631"/>
            <a:ext cx="420624" cy="3657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6016" y="3877056"/>
            <a:ext cx="4288536" cy="38404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1200" b="1">
                <a:solidFill>
                  <a:srgbClr val="202528"/>
                </a:solidFill>
                <a:latin typeface="Arial"/>
              </a:rPr>
              <a:t>POINT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37376" y="4370831"/>
            <a:ext cx="4837176" cy="365759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400" b="0">
                <a:solidFill>
                  <a:srgbClr val="6D7478"/>
                </a:solidFill>
                <a:latin typeface="Arial"/>
              </a:rPr>
              <a:t>Science: How do standards of good inquiry earn their authority?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5532120"/>
            <a:ext cx="10835640" cy="566928"/>
          </a:xfrm>
          <a:prstGeom prst="roundRect">
            <a:avLst/>
          </a:prstGeom>
          <a:solidFill>
            <a:srgbClr val="0B7D80"/>
          </a:solidFill>
          <a:ln>
            <a:solidFill>
              <a:srgbClr val="0B7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586983"/>
            <a:ext cx="10469880" cy="438912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Can reason help assess our goals as well as our methods?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365760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850" b="1">
                <a:solidFill>
                  <a:srgbClr val="F2933A"/>
                </a:solidFill>
                <a:latin typeface="Arial"/>
              </a:rPr>
              <a:t>STAKES &amp; READING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182880"/>
            <a:ext cx="640080" cy="22860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r"/>
            <a:r>
              <a:rPr sz="850" b="1">
                <a:solidFill>
                  <a:srgbClr val="6D7478"/>
                </a:solidFill>
                <a:latin typeface="Arial"/>
              </a:rPr>
              <a:t>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0972800" cy="56692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2500" b="1">
                <a:solidFill>
                  <a:srgbClr val="202528"/>
                </a:solidFill>
                <a:latin typeface="Arial"/>
              </a:rPr>
              <a:t>Why read Putnam?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280160" cy="54864"/>
          </a:xfrm>
          <a:prstGeom prst="rect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463040"/>
            <a:ext cx="3794760" cy="4297680"/>
          </a:xfrm>
          <a:prstGeom prst="roundRect">
            <a:avLst/>
          </a:prstGeom>
          <a:solidFill>
            <a:srgbClr val="202528"/>
          </a:solidFill>
          <a:ln>
            <a:solidFill>
              <a:srgbClr val="2025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3154680" cy="82296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2500" b="1">
                <a:solidFill>
                  <a:srgbClr val="FFFFFF"/>
                </a:solidFill>
                <a:latin typeface="Arial"/>
              </a:rPr>
              <a:t>HILARY
PUTNAM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3246120" cy="914400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800" b="1">
                <a:solidFill>
                  <a:srgbClr val="8BC53F"/>
                </a:solidFill>
                <a:latin typeface="Arial"/>
              </a:rPr>
              <a:t>The Entanglement
of Fact and 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160520"/>
            <a:ext cx="3246120" cy="36576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200" b="0">
                <a:solidFill>
                  <a:srgbClr val="D8E0DE"/>
                </a:solidFill>
                <a:latin typeface="Arial"/>
              </a:rPr>
              <a:t>2002 · Chapter 2 · pp. 28-45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4920" y="1874519"/>
            <a:ext cx="6080760" cy="9144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39512" y="2002536"/>
            <a:ext cx="530352" cy="118872"/>
          </a:xfrm>
          <a:prstGeom prst="rect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39512" y="2185415"/>
            <a:ext cx="347472" cy="347472"/>
          </a:xfrm>
          <a:prstGeom prst="ellipse">
            <a:avLst/>
          </a:prstGeom>
          <a:solidFill>
            <a:srgbClr val="55B8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9512" y="2194560"/>
            <a:ext cx="347472" cy="29260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6712" y="2039112"/>
            <a:ext cx="1828800" cy="219456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950" b="1">
                <a:solidFill>
                  <a:srgbClr val="202528"/>
                </a:solidFill>
                <a:latin typeface="Arial"/>
              </a:rPr>
              <a:t>QUESTION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6712" y="2286000"/>
            <a:ext cx="5294376" cy="438912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150" b="0">
                <a:solidFill>
                  <a:srgbClr val="6D7478"/>
                </a:solidFill>
                <a:latin typeface="Arial"/>
              </a:rPr>
              <a:t>Can understanding a human situation require evaluative concepts?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4920" y="2971800"/>
            <a:ext cx="6080760" cy="9144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239512" y="3099816"/>
            <a:ext cx="530352" cy="118872"/>
          </a:xfrm>
          <a:prstGeom prst="rect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239512" y="3282696"/>
            <a:ext cx="347472" cy="347472"/>
          </a:xfrm>
          <a:prstGeom prst="ellipse">
            <a:avLst/>
          </a:prstGeom>
          <a:solidFill>
            <a:srgbClr val="8BC5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39512" y="3291840"/>
            <a:ext cx="347472" cy="29260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96712" y="3136392"/>
            <a:ext cx="1828800" cy="219456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950" b="1">
                <a:solidFill>
                  <a:srgbClr val="202528"/>
                </a:solidFill>
                <a:latin typeface="Arial"/>
              </a:rPr>
              <a:t>QUESTION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96712" y="3383280"/>
            <a:ext cx="5294376" cy="438912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150" b="0">
                <a:solidFill>
                  <a:srgbClr val="6D7478"/>
                </a:solidFill>
                <a:latin typeface="Arial"/>
              </a:rPr>
              <a:t>Can value judgments be rationally justified?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4920" y="4069079"/>
            <a:ext cx="6080760" cy="914400"/>
          </a:xfrm>
          <a:prstGeom prst="roundRect">
            <a:avLst/>
          </a:prstGeom>
          <a:solidFill>
            <a:srgbClr val="F4F6F5"/>
          </a:solidFill>
          <a:ln>
            <a:solidFill>
              <a:srgbClr val="F4F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239512" y="4197095"/>
            <a:ext cx="530352" cy="118872"/>
          </a:xfrm>
          <a:prstGeom prst="rect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239512" y="4379975"/>
            <a:ext cx="347472" cy="347472"/>
          </a:xfrm>
          <a:prstGeom prst="ellipse">
            <a:avLst/>
          </a:prstGeom>
          <a:solidFill>
            <a:srgbClr val="F2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39512" y="4389119"/>
            <a:ext cx="347472" cy="292608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96712" y="4233671"/>
            <a:ext cx="1828800" cy="219456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l"/>
            <a:r>
              <a:rPr sz="950" b="1">
                <a:solidFill>
                  <a:srgbClr val="202528"/>
                </a:solidFill>
                <a:latin typeface="Arial"/>
              </a:rPr>
              <a:t>QUESTION 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4480559"/>
            <a:ext cx="5294376" cy="438912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1150" b="0">
                <a:solidFill>
                  <a:srgbClr val="6D7478"/>
                </a:solidFill>
                <a:latin typeface="Arial"/>
              </a:rPr>
              <a:t>What would objectivity require if inquiry includes values?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5029200"/>
            <a:ext cx="10058400" cy="365760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ctr"/>
            <a:r>
              <a:rPr sz="1300" b="0">
                <a:solidFill>
                  <a:srgbClr val="6D7478"/>
                </a:solidFill>
                <a:latin typeface="Arial"/>
              </a:rPr>
              <a:t>Reading and book contents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5532120"/>
            <a:ext cx="10835640" cy="566928"/>
          </a:xfrm>
          <a:prstGeom prst="roundRect">
            <a:avLst/>
          </a:prstGeom>
          <a:solidFill>
            <a:srgbClr val="0B7D80"/>
          </a:solidFill>
          <a:ln>
            <a:solidFill>
              <a:srgbClr val="0B7D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586983"/>
            <a:ext cx="10469880" cy="438912"/>
          </a:xfrm>
          <a:prstGeom prst="rect">
            <a:avLst/>
          </a:prstGeom>
          <a:noFill/>
        </p:spPr>
        <p:txBody>
          <a:bodyPr wrap="none" lIns="36576" rIns="36576" tIns="27432" bIns="2743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Understanding how a society works raises the further question of what makes it worth sustaining.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92240"/>
            <a:ext cx="9144000" cy="146304"/>
          </a:xfrm>
          <a:prstGeom prst="rect">
            <a:avLst/>
          </a:prstGeom>
          <a:noFill/>
        </p:spPr>
        <p:txBody>
          <a:bodyPr wrap="none" lIns="36576" rIns="36576" tIns="27432" bIns="27432" anchor="t">
            <a:spAutoFit/>
          </a:bodyPr>
          <a:lstStyle/>
          <a:p>
            <a:pPr algn="l"/>
            <a:r>
              <a:rPr sz="700" b="0">
                <a:solidFill>
                  <a:srgbClr val="6D7478"/>
                </a:solidFill>
                <a:latin typeface="Arial"/>
              </a:rPr>
              <a:t>Sources: jstor.org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2A47"/>
        </a:solidFill>
      </p:bgPr>
    </p:bg>
    <p:spTree>
      <p:nvGrpSpPr>
        <p:cNvPr id="4183" name="Shape 4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4" name="Google Shape;4184;p46"/>
          <p:cNvSpPr txBox="1"/>
          <p:nvPr>
            <p:ph idx="4294967295" type="title"/>
          </p:nvPr>
        </p:nvSpPr>
        <p:spPr>
          <a:xfrm>
            <a:off x="914400" y="536525"/>
            <a:ext cx="7315200" cy="48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Instructions for use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5" name="Google Shape;4185;p46"/>
          <p:cNvSpPr txBox="1"/>
          <p:nvPr>
            <p:ph idx="4294967295" type="body"/>
          </p:nvPr>
        </p:nvSpPr>
        <p:spPr>
          <a:xfrm>
            <a:off x="914400" y="1096451"/>
            <a:ext cx="7315200" cy="28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 order to use this template, you must credit </a:t>
            </a:r>
            <a:r>
              <a:rPr b="1" lang="en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S</a:t>
            </a:r>
            <a:r>
              <a:rPr b="1" lang="en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lidesgo</a:t>
            </a:r>
            <a:r>
              <a:rPr lang="en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and</a:t>
            </a:r>
            <a:r>
              <a:rPr lang="en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lang="en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lang="en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 your final presentation and include links to both websites.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You are allowed to:</a:t>
            </a:r>
            <a:endParaRPr b="1">
              <a:solidFill>
                <a:srgbClr val="869FB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- Modify this template.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- Use it for both personal and commercial projects.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</a:rPr>
              <a:t>You are not allowed to:</a:t>
            </a:r>
            <a:endParaRPr b="1">
              <a:solidFill>
                <a:srgbClr val="869FB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- Sublicense, sell or rent any of Slidesgo Content (or a modified version of Slidesgo Content).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- Distribute Slidesgo Content unless it has been expressly authorized by Slidesgo.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- Include Slidesgo Content in an online or offline database or file.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- Offer Slidesgo templates (or modified versions of Slidesgo templates) for download.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- Acquire the copyright of Slidesgo Content.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435D7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435D7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435D7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6" name="Google Shape;4186;p46"/>
          <p:cNvSpPr txBox="1"/>
          <p:nvPr>
            <p:ph idx="4294967295" type="body"/>
          </p:nvPr>
        </p:nvSpPr>
        <p:spPr>
          <a:xfrm>
            <a:off x="960767" y="4027759"/>
            <a:ext cx="7047300" cy="44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 more information about editing slides, please read our FAQs or visit Slidesgo School:</a:t>
            </a:r>
            <a:endParaRPr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https://slidesgo.com/faqs</a:t>
            </a:r>
            <a:r>
              <a:rPr lang="en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lang="en" u="sng">
                <a:solidFill>
                  <a:srgbClr val="869FB2"/>
                </a:solidFill>
                <a:latin typeface="Arial"/>
                <a:ea typeface="Arial"/>
                <a:cs typeface="Arial"/>
                <a:sym typeface="Arial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https://slidesgo.com/slidesgo-school</a:t>
            </a:r>
            <a:endParaRPr u="sng">
              <a:solidFill>
                <a:srgbClr val="869FB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Ecology Infographics by Slidesgo">
  <a:themeElements>
    <a:clrScheme name="Simple Light">
      <a:dk1>
        <a:srgbClr val="000000"/>
      </a:dk1>
      <a:lt1>
        <a:srgbClr val="FFFFFF"/>
      </a:lt1>
      <a:dk2>
        <a:srgbClr val="CCCCCC"/>
      </a:dk2>
      <a:lt2>
        <a:srgbClr val="045E6D"/>
      </a:lt2>
      <a:accent1>
        <a:srgbClr val="008499"/>
      </a:accent1>
      <a:accent2>
        <a:srgbClr val="A6E3E8"/>
      </a:accent2>
      <a:accent3>
        <a:srgbClr val="5D7C0A"/>
      </a:accent3>
      <a:accent4>
        <a:srgbClr val="87B212"/>
      </a:accent4>
      <a:accent5>
        <a:srgbClr val="C3D123"/>
      </a:accent5>
      <a:accent6>
        <a:srgbClr val="F7D754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