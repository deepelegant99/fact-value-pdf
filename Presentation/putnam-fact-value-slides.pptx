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C7E"/>
                </a:solidFill>
              </a:rPr>
              <a:t>FACT /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2B"/>
                </a:solidFill>
              </a:rPr>
              <a:t>What makes a society successful?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468880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9787A"/>
                </a:solidFill>
              </a:rPr>
              <a:t>An economy grows. A government survives. An empire expands. Hilary Putnam and The Entanglement of Fact and Value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20840" y="1417320"/>
            <a:ext cx="4160520" cy="822960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83880" y="2468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A2B"/>
                </a:solidFill>
              </a:rPr>
              <a:t>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720840" y="3273552"/>
            <a:ext cx="4160520" cy="822960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VALUE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20840" y="4434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87A"/>
                </a:solidFill>
              </a:rPr>
              <a:t>not two sealed boxes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48920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B"/>
                </a:solidFill>
              </a:rPr>
              <a:t>Hilary Putnam - The Entanglement of Fact and Value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5687568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would make these achievements worth celebrating?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Social science explains how societies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Economics investigates production, wages, investment, and employment.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Political science investigates power, cooperation, conflict, and institutional survival.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History investigates how people and institutions changed.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 also want to understand whether those changes improved human life.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An economy grows. Are people better off?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6C440"/>
                </a:solidFill>
              </a:rPr>
              <a:t>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B"/>
                </a:solidFill>
              </a:rPr>
              <a:t>GDP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1572768"/>
            <a:ext cx="6675120" cy="5029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344246"/>
                </a:solidFill>
              </a:rPr>
              <a:t>Median purchasing power remains unchanged.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069080" y="2441448"/>
            <a:ext cx="6675120" cy="5029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344246"/>
                </a:solidFill>
              </a:rPr>
              <a:t>Working hours increase.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069080" y="3310128"/>
            <a:ext cx="6675120" cy="5029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344246"/>
                </a:solidFill>
              </a:rPr>
              <a:t>Preventable illness becomes more common.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Has this country made progress?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“Progress” requires a standard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Different standards bring different features into view: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Production: How much does the economy produce?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Living standards: What can ordinary households afford?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Well-being: How healthy, secure, and fulfilled are people?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Freedom: What meaningful choices can people make?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Agreeing on the measurements does not settle which standard best captures progress.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A useful distinction can become a sweeping claim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</a:rPr>
              <a:t>DESCRIPTIVE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Descriptive claims: “Average working hours increased.”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</a:rPr>
              <a:t>EVALUATIVE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Evaluative claims: “These working conditions are unacceptable.”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87A"/>
                </a:solidFill>
              </a:rPr>
              <a:t>Putnam challenges this stronger position. Merely distinguishing description from evaluation does not establish it. Putnam’s book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Descriptions can be objectively justified; evaluations ultimately express preferences.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jstor.org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Equal income can conceal unequal opportunities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</a:rPr>
              <a:t>SIDE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One can travel and work without additional assistance.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</a:rPr>
              <a:t>SIDE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The other needs expensive mobility support and faces inaccessible transport.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87A"/>
                </a:solidFill>
              </a:rPr>
              <a:t>Their purchasing power is equal, but their practical opportunities differ.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would an adequate comparison of their circumstances measure?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tannerlectures.org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A better question can reveal overlooked facts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Amartya Sen proposes examining people’s capabilities: their actual opportunities to do and be things they have reason to value.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Mobility and accessibility.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Nutrition and shelter.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Participation in community life.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tannerlectures.org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Satisfaction can be an incomplete measure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People can adapt to difficult circumstances and lower their expectations.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Reported satisfaction tells us something important.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It can coexist with restricted opportunities.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Deciding whether it adequately measures well-being requires further judgment.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Does becoming accustomed to deprivation make deprivation disappear?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tannerlectures.org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A deeply unequal allocation can be efficient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7C7E"/>
                </a:solidFill>
              </a:rPr>
              <a:t>99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332720" y="15727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F8B39"/>
                </a:solidFill>
              </a:rPr>
              <a:t>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2441448"/>
            <a:ext cx="9738360" cy="457200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52760" y="2441448"/>
            <a:ext cx="164592" cy="457200"/>
          </a:xfrm>
          <a:prstGeom prst="rect">
            <a:avLst/>
          </a:prstGeom>
          <a:solidFill>
            <a:srgbClr val="EF8B39"/>
          </a:solidFill>
          <a:ln w="12700">
            <a:solidFill>
              <a:srgbClr val="EF8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29000"/>
            <a:ext cx="101498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246"/>
                </a:solidFill>
              </a:rPr>
              <a:t>• The supply is fixed.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44246"/>
                </a:solidFill>
              </a:rPr>
              <a:t>• Each person prefers having more.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44246"/>
                </a:solidFill>
              </a:rPr>
              <a:t>• Neither cares about the other’s allocation.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C440"/>
          </a:solidFill>
          <a:ln w="12700">
            <a:solidFill>
              <a:srgbClr val="86C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6C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+ 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Efficiency answers a limited question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86C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8B39"/>
                </a:solidFill>
              </a:rPr>
              <a:t>99 / 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2B"/>
                </a:solidFill>
              </a:rPr>
              <a:t>Pareto efficient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2944368"/>
            <a:ext cx="4069080" cy="38404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2944368"/>
            <a:ext cx="109728" cy="384048"/>
          </a:xfrm>
          <a:prstGeom prst="rect">
            <a:avLst/>
          </a:prstGeom>
          <a:solidFill>
            <a:srgbClr val="EF8B39"/>
          </a:solidFill>
          <a:ln w="12700">
            <a:solidFill>
              <a:srgbClr val="EF8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6C440"/>
                </a:solidFill>
              </a:rPr>
              <a:t>50 / 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2B"/>
                </a:solidFill>
              </a:rPr>
              <a:t>Pareto efficient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37960" y="2944368"/>
            <a:ext cx="2057400" cy="38404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2944368"/>
            <a:ext cx="2057400" cy="384048"/>
          </a:xfrm>
          <a:prstGeom prst="rect">
            <a:avLst/>
          </a:prstGeom>
          <a:solidFill>
            <a:srgbClr val="EF8B39"/>
          </a:solidFill>
          <a:ln w="12700">
            <a:solidFill>
              <a:srgbClr val="EF8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33088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The 99–1 allocation is Pareto efficient: no feasible change helps someone without hurting someone else. Under the same assumptions, 50–50 is also Pareto efficient. The criterion does not tell us which distribution is fair.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Mathematical precision does not make a criterion morally sufficient.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Can we criticize our measures of success?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Suppose a welfare measure systematically overlooks serious, avoidable suffering.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It may omit conditions central to people’s lives.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It may treat relevantly different circumstances as equivalent.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It may reward outcomes that undermine its stated purpose.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Can we give reasons for changing it?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A government can survive through different means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A political model might explain stability through: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Reliable taxation.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Effective administration.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Cooperation among powerful groups.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Public support—or effective intimidation.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Explaining why a government survives leaves open whether its survival is desirable.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Public order needs interpretation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Imagine that demonstrations sharply decline.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Citizens are more satisfied.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Grievances have been addressed.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Organizing has become dangerous.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People believe protest is futile.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Possible explanations include: The same headline statistic can accompany very different political conditions.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 need to investigate what the silence means.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Power, acceptance, and justification differ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965960" cy="731520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71800" y="1554480"/>
            <a:ext cx="4114800" cy="7315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344246"/>
                </a:solidFill>
              </a:rPr>
              <a:t>The government secures obedience.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315200" y="1554480"/>
            <a:ext cx="3931920" cy="7315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How effective is its power?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724912"/>
            <a:ext cx="1965960" cy="731520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BELIEF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2724912"/>
            <a:ext cx="4114800" cy="7315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344246"/>
                </a:solidFill>
              </a:rPr>
              <a:t>Citizens believe it has a right to rule.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315200" y="2724912"/>
            <a:ext cx="3931920" cy="7315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What do citizens believe?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95344"/>
            <a:ext cx="1965960" cy="731520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JUSTIFICATION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3895344"/>
            <a:ext cx="4114800" cy="7315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344246"/>
                </a:solidFill>
              </a:rPr>
              <a:t>It has a right to rule.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315200" y="3895344"/>
            <a:ext cx="3931920" cy="731520"/>
          </a:xfrm>
          <a:prstGeom prst="rect">
            <a:avLst/>
          </a:prstGeom>
          <a:solidFill>
            <a:srgbClr val="F4F8F7"/>
          </a:solidFill>
          <a:ln>
            <a:solidFill>
              <a:srgbClr val="D9E4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Is its authority justified?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Institutions embody choices that remain open to criticism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Property rules, voting procedures, and tax systems organize whose claims receive recognition.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How did these arrangements emerge?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What consequences do they produce?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What reasons support keeping or changing them?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fact that earlier values shaped an institution does not establish that its present rules are justified.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Historical questions shape what becomes visible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100584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Consider a history of an empire.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A focus on administration directs attention to taxes, roads, and military organization.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A focus on ordinary life directs attention to labor, displacement, security, and household survival.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Historians’ perspectives influence inquiry while remaining answerable to the record. AHA standards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questions we consider important shape the evidence we seek.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historians.org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Frederick Douglass challenged an interpretation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100584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In his 1845 autobiography, Douglass described people mistaking enslaved people’s singing for evidence of contentment.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He explained that, in his experience, singing often expressed or relieved sorrow.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Listening to the people being described can correct an observer’s interpretation. Douglass, Chapter II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 apparently familiar behavior had been misunderstood.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teachingamericanhistory.org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Historical judgment requires discipline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Taking people’s experiences seriously requires careful evidence.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Read sources in their historical context.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Investigate disagreements among people at the time.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Examine evidence that challenges your interpretation.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Separate explaining an action from defending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AHA standards for historical scholarship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 moral commitment does not excuse a distorted account of the past.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historians.org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B6D4"/>
          </a:solidFill>
          <a:ln w="12700">
            <a:solidFill>
              <a:srgbClr val="4C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+ HISTORY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Our judgments about the past shape future goals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4C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Imagine evaluating a past government.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If success means survival, we may emphasize preserving authority.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If success includes public security, we investigate whose security improved.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If success includes freedom, we investigate people’s ability to challenge power.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Historical lessons depend partly on what we judge worth repeating.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Interaction alone does not prove entanglement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</a:rPr>
              <a:t>SIDE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Values influence research questions and institutions.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</a:rPr>
              <a:t>SIDE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Evidence can change evaluations.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87A"/>
                </a:solidFill>
              </a:rPr>
              <a:t>Measures of success need justification.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Putnam’s stronger challenge concerns whether description and evaluation can always be cleanly separated.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Some concepts describe and evaluate together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606040" cy="1051560"/>
          </a:xfrm>
          <a:prstGeom prst="rect">
            <a:avLst/>
          </a:prstGeom>
          <a:solidFill>
            <a:srgbClr val="EF8B39"/>
          </a:solidFill>
          <a:ln>
            <a:solidFill>
              <a:srgbClr val="EF8B3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CRUEL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09160" y="2057400"/>
            <a:ext cx="2606040" cy="1051560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HONEST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0" y="2057400"/>
            <a:ext cx="2606040" cy="1051560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COURAGEOUS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97764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246"/>
                </a:solidFill>
              </a:rPr>
              <a:t>Philosophers call these thick ethical concepts. They characterize conduct while also carrying evaluative significance.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Can we fully explain what such a concept means by separating neutral description from approval or disapproval?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jstor.org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What makes an action cruel?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Imagine a teacher repeatedly ridiculing a struggling student.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What suffering or humiliation occurred?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What did the teacher understand?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How vulnerable was the student?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What reasons, if any, justified the conduct?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Assessing cruelty involves questions such as: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Pain alone cannot settle the judgment: necessary medical treatment can also hurt.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Putnam challenges the proposed separation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</a:rPr>
              <a:t>SIDE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Can the neutral description identify everything relevant to cruelty?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</a:rPr>
              <a:t>SIDE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Do terms such as “gratuitous” or “humiliating” reintroduce evaluation?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87A"/>
                </a:solidFill>
              </a:rPr>
              <a:t>Can the separation preserve the concept across different cases?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nordprag.org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Scientific inquiry also depends on standards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Scientists assess explanations using: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Fit with evidence.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Coherence.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Explanatory power.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Simplicity, where appropriate.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These are epistemic values: standards for good inquiry. Putnam emphasizes that judging a theory worthy of acceptance involves standards about how we ought to reason. Putnam, “Beyond the Fact/Value Dichotomy”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inters.org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Disagreement does not automatically defeat rational judgment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9787A"/>
                </a:solidFill>
              </a:rPr>
              <a:t>Researchers can disagree about: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88464" y="2121408"/>
            <a:ext cx="493776" cy="49377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Which explanation is more adequate.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61304" y="2121408"/>
            <a:ext cx="493776" cy="493776"/>
          </a:xfrm>
          <a:prstGeom prst="rect">
            <a:avLst/>
          </a:prstGeom>
          <a:solidFill>
            <a:srgbClr val="4CB6D4"/>
          </a:solidFill>
          <a:ln>
            <a:solidFill>
              <a:srgbClr val="4C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607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Whether an assumption is reasonable.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34144" y="2121408"/>
            <a:ext cx="493776" cy="493776"/>
          </a:xfrm>
          <a:prstGeom prst="rect">
            <a:avLst/>
          </a:prstGeom>
          <a:solidFill>
            <a:srgbClr val="86C440"/>
          </a:solidFill>
          <a:ln>
            <a:solidFill>
              <a:srgbClr val="86C4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58912" y="2834640"/>
            <a:ext cx="344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246"/>
                </a:solidFill>
              </a:rPr>
              <a:t>How to weigh competing theoretical virtues.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inters.org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The strongest objection distinguishes kinds of value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B6D4"/>
                </a:solidFill>
              </a:rPr>
              <a:t>SIDE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Science needing standards does not automatically establish moral objectivity.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</a:rPr>
              <a:t>SIDE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1984248"/>
            <a:ext cx="5074920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44246"/>
                </a:solidFill>
              </a:rPr>
              <a:t>Putnam must explain why ethical judgments can also be justified.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87A"/>
                </a:solidFill>
              </a:rPr>
              <a:t>That objection deserves an answer.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argument puts pressure on the divide; further reasoning is still required.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Entanglement does not settle every moral question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Putnam’s challenge does not establish that: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Every factual statement is a moral judgment.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Every sincere evaluation is correct.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Economic growth automatically creates an obligation.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One political system follows uniquely from the evidence.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A premise such as “this policy is cruel” already contains evaluation.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Using that premise does not derive morality from wholly neutral premises.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PUTNAM'S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Evaluative standards can themselves face criticism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Suppose we call a policy fair because everyone receives the same payment.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Does equal payment address substantially different needs?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Does the rule serve its stated purpose?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Can its justification survive relevant counterexamples?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What evidence would make us revise it?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9787A"/>
                </a:solidFill>
              </a:rPr>
              <a:t>We can examine that standard: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Evaluation can involve argument, investigation, and correction.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B39"/>
          </a:solidFill>
          <a:ln w="12700">
            <a:solidFill>
              <a:srgbClr val="EF8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STAKES + READING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The larger issue is the reach of reason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EF8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9787A"/>
                </a:solidFill>
              </a:rPr>
              <a:t>The stakes extend across disciplines: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9784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Economics: Can we justify what counts as welfare?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Politics: Can we assess authority as well as explain power?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History: Can we defend judgments about progress and failure?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44246"/>
                </a:solidFill>
              </a:rPr>
              <a:t>• Science: How do standards of good inquiry earn their authority?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EF8B39"/>
          </a:solidFill>
          <a:ln>
            <a:solidFill>
              <a:srgbClr val="EF8B3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Can reason help assess our goals as well as our methods?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B39"/>
          </a:solidFill>
          <a:ln w="12700">
            <a:solidFill>
              <a:srgbClr val="EF8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8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STAKES + READING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87A"/>
                </a:solidFill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2B"/>
                </a:solidFill>
              </a:rPr>
              <a:t>Why read Putnam?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325880" cy="0"/>
          </a:xfrm>
          <a:prstGeom prst="line">
            <a:avLst/>
          </a:prstGeom>
          <a:noFill/>
          <a:ln w="31750">
            <a:solidFill>
              <a:srgbClr val="EF8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3291840" cy="1051560"/>
          </a:xfrm>
          <a:prstGeom prst="rect">
            <a:avLst/>
          </a:prstGeom>
          <a:solidFill>
            <a:srgbClr val="1F2A2B"/>
          </a:solidFill>
          <a:ln>
            <a:solidFill>
              <a:srgbClr val="1F2A2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HILARY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PUTNAM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3291840" cy="777240"/>
          </a:xfrm>
          <a:prstGeom prst="rect">
            <a:avLst/>
          </a:prstGeom>
          <a:solidFill>
            <a:srgbClr val="1F2A2B"/>
          </a:solidFill>
          <a:ln>
            <a:solidFill>
              <a:srgbClr val="1F2A2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C440"/>
                </a:solidFill>
              </a:rPr>
              <a:t>The Entanglement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86C440"/>
                </a:solidFill>
              </a:rPr>
              <a:t>of Fact and Value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3"/>
                </a:solidFill>
              </a:rPr>
              <a:t>2002 - Chapter 2 - pp. 28-45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621792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344246"/>
                </a:solidFill>
              </a:rPr>
              <a:t>• Can understanding a human situation require evaluative concepts?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344246"/>
                </a:solidFill>
              </a:rPr>
              <a:t>• Can value judgments be rationally justified?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344246"/>
                </a:solidFill>
              </a:rPr>
              <a:t>• What would objectivity require if inquiry includes values?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85800" y="5760720"/>
            <a:ext cx="10835640" cy="475488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Understanding how a society works raises the further question of what makes it worth sustaining.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87A"/>
                </a:solidFill>
              </a:rPr>
              <a:t>sources: jstor.org</a:t>
            </a:r>
            <a:endParaRPr lang="en-US" sz="6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B"/>
                </a:solidFill>
              </a:rPr>
              <a:t>Credits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344246"/>
                </a:solidFill>
              </a:rPr>
              <a:t>Original visual direction: Ecology Infographics by Slidesgo.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44246"/>
                </a:solidFill>
              </a:rPr>
              <a:t>Deck rebuilt for readability from the Markdown source in the repository.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Entanglement of Fact and Value</dc:title>
  <dc:subject>Putnam fact-value presentation</dc:subject>
  <dc:creator>OpenAI</dc:creator>
  <cp:lastModifiedBy>OpenAI</cp:lastModifiedBy>
  <cp:revision>1</cp:revision>
  <dcterms:created xsi:type="dcterms:W3CDTF">2026-09-07T23:02:51Z</dcterms:created>
  <dcterms:modified xsi:type="dcterms:W3CDTF">2026-09-07T23:02:51Z</dcterms:modified>
</cp:coreProperties>
</file>